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24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6321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90872"/>
            <a:ext cx="9144000" cy="4526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b="1" dirty="0">
                <a:solidFill>
                  <a:srgbClr val="FFFFFF"/>
                </a:solidFill>
              </a:rPr>
              <a:t>SnapTray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4B8A6"/>
                </a:solidFill>
              </a:rPr>
              <a:t>Iskolai Menza Rendelőrendszer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BD5E1"/>
                </a:solidFill>
              </a:rPr>
              <a:t>Kugli Balázs  ·  Hargitai Tamás  ·  Peti Aliz Andrea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690872"/>
            <a:ext cx="82296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Tartalom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83210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594360" y="82296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01  Célunk — A probléma bemutatása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11480" y="1627632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411480" y="1627632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594360" y="162763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02  Tervünk — Szerepedkörök, funkciók, technológiák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432304"/>
            <a:ext cx="83210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11480" y="2432304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594360" y="243230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03  Hogyan dolgoztunk? — Projektszervezés, munkamegosztás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1480" y="3236976"/>
            <a:ext cx="8321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411480" y="3236976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594360" y="3236976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04  A kész szoftver — Funkciók és forráskód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11480" y="4041648"/>
            <a:ext cx="83210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11480" y="4041648"/>
            <a:ext cx="64008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9436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</a:rPr>
              <a:t>05  Köszönjük a figyelmet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10972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334155"/>
                </a:solidFill>
              </a:rPr>
              <a:t>01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274320" y="2212848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Célunk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4B8A6"/>
                </a:solidFill>
              </a:rPr>
              <a:t>A probléma bemutatása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 probléma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</a:rPr>
              <a:t>Hol fáj az iskolái étkeztetésben?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A papíralapú rendelés lassú és hibákkal teli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A szülők nem követhetik gyermekük étkezéseit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Készletgazdálkodás manuális, időigényes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Nincs átlátható fizetési folyamat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</a:rPr>
              <a:t>Adminisztrátorok nehézkes statisztikaelemzése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23560" y="749808"/>
            <a:ext cx="315468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623560" y="749808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~30%</a:t>
            </a:r>
            <a:endParaRPr lang="en-US" sz="3600" dirty="0"/>
          </a:p>
          <a:p>
            <a:pPr marL="0" indent="0" algn="ctr">
              <a:buNone/>
            </a:pPr>
            <a:r>
              <a:rPr lang="en-US" sz="1000" dirty="0" err="1">
                <a:solidFill>
                  <a:srgbClr val="CCFBF1"/>
                </a:solidFill>
              </a:rPr>
              <a:t>az</a:t>
            </a:r>
            <a:r>
              <a:rPr lang="en-US" sz="1000" dirty="0">
                <a:solidFill>
                  <a:srgbClr val="CCFBF1"/>
                </a:solidFill>
              </a:rPr>
              <a:t> </a:t>
            </a:r>
            <a:r>
              <a:rPr lang="en-US" sz="1000" dirty="0" err="1">
                <a:solidFill>
                  <a:srgbClr val="CCFBF1"/>
                </a:solidFill>
              </a:rPr>
              <a:t>iskolai</a:t>
            </a:r>
            <a:r>
              <a:rPr lang="en-US" sz="1000" dirty="0">
                <a:solidFill>
                  <a:srgbClr val="CCFBF1"/>
                </a:solidFill>
              </a:rPr>
              <a:t> </a:t>
            </a:r>
            <a:r>
              <a:rPr lang="en-US" sz="1000" dirty="0" err="1">
                <a:solidFill>
                  <a:srgbClr val="CCFBF1"/>
                </a:solidFill>
              </a:rPr>
              <a:t>étkezések</a:t>
            </a:r>
            <a:endParaRPr lang="en-US" sz="3600" dirty="0"/>
          </a:p>
          <a:p>
            <a:pPr marL="0" indent="0" algn="ctr">
              <a:buNone/>
            </a:pPr>
            <a:r>
              <a:rPr lang="en-US" sz="1000" dirty="0" err="1">
                <a:solidFill>
                  <a:srgbClr val="CCFBF1"/>
                </a:solidFill>
              </a:rPr>
              <a:t>nem</a:t>
            </a:r>
            <a:r>
              <a:rPr lang="en-US" sz="1000" dirty="0">
                <a:solidFill>
                  <a:srgbClr val="CCFBF1"/>
                </a:solidFill>
              </a:rPr>
              <a:t> </a:t>
            </a:r>
            <a:r>
              <a:rPr lang="en-US" sz="1000" dirty="0" err="1">
                <a:solidFill>
                  <a:srgbClr val="CCFBF1"/>
                </a:solidFill>
              </a:rPr>
              <a:t>kerül</a:t>
            </a:r>
            <a:r>
              <a:rPr lang="en-US" sz="1000" dirty="0">
                <a:solidFill>
                  <a:srgbClr val="CCFBF1"/>
                </a:solidFill>
              </a:rPr>
              <a:t> </a:t>
            </a:r>
            <a:r>
              <a:rPr lang="en-US" sz="1000" dirty="0" err="1">
                <a:solidFill>
                  <a:srgbClr val="CCFBF1"/>
                </a:solidFill>
              </a:rPr>
              <a:t>felhasználásra</a:t>
            </a:r>
            <a:r>
              <a:rPr lang="en-US" sz="1000" dirty="0">
                <a:solidFill>
                  <a:srgbClr val="CCFBF1"/>
                </a:solidFill>
              </a:rPr>
              <a:t> —</a:t>
            </a:r>
            <a:endParaRPr lang="en-US" sz="3600" dirty="0"/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FFFFFF"/>
                </a:solidFill>
              </a:rPr>
              <a:t>tervezés</a:t>
            </a:r>
            <a:r>
              <a:rPr lang="en-US" sz="1000" i="1" dirty="0">
                <a:solidFill>
                  <a:srgbClr val="FFFFFF"/>
                </a:solidFill>
              </a:rPr>
              <a:t> hiánya miatt*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5623560" y="2286000"/>
            <a:ext cx="3154680" cy="1417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5623560" y="2286000"/>
            <a:ext cx="31546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4B8A6"/>
                </a:solidFill>
              </a:rPr>
              <a:t>100%</a:t>
            </a:r>
            <a:endParaRPr lang="en-US" sz="36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digitális, valós idejű</a:t>
            </a:r>
            <a:endParaRPr lang="en-US" sz="36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</a:rPr>
              <a:t>rendeléskövetés</a:t>
            </a:r>
            <a:endParaRPr lang="en-US" sz="36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14B8A6"/>
                </a:solidFill>
              </a:rPr>
              <a:t>a SnapTray-jel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65760" y="4828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CBD5E1"/>
                </a:solidFill>
              </a:rPr>
              <a:t>*Általános oktatási élelmezési tanulmányok alapján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 megoldás — SnapTray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A SnapTray egy webalapú menza-rendelőrendszer, amely egyszerűsíti az étkezési rendelések lebonyolítását iskolái környezetben.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444752"/>
            <a:ext cx="2788920" cy="1298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444752"/>
            <a:ext cx="6400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75488" y="1554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Biztonságos hitelesítés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99339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JWT, 2FA, email-ellenőrzés, bcrypt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444752"/>
            <a:ext cx="2788920" cy="1298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46120" y="1444752"/>
            <a:ext cx="6400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401568" y="1554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Digitális menükezelés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01568" y="199339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QR kód, allergének, napi menü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1444752"/>
            <a:ext cx="2788920" cy="1298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6172200" y="1444752"/>
            <a:ext cx="6400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6327648" y="1554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Fizetési integráció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27648" y="199339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PayPal, Google Pay, Pénztárca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2907792"/>
            <a:ext cx="2788920" cy="1298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320040" y="2907792"/>
            <a:ext cx="6400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75488" y="3017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Admin dashboard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" y="34564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Rendelések, statisztikák, felhasználók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46120" y="2907792"/>
            <a:ext cx="2788920" cy="1298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46120" y="2907792"/>
            <a:ext cx="6400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3401568" y="3017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E2EE chat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34564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Titkosított üzenetküldés (Signal-protokoll)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72200" y="2907792"/>
            <a:ext cx="2788920" cy="12984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6172200" y="2907792"/>
            <a:ext cx="64008" cy="12984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6327648" y="3017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</a:rPr>
              <a:t>Hűségprogram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27648" y="34564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Pontgyűjtés, kedvezmények, szintek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10972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334155"/>
                </a:solidFill>
              </a:rPr>
              <a:t>02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274320" y="2212848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Tervünk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4B8A6"/>
                </a:solidFill>
              </a:rPr>
              <a:t>Szerepkörök, funkciók és technológiák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Felhasználói szerepkörök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55448" y="777240"/>
            <a:ext cx="205740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155448" y="777240"/>
            <a:ext cx="205740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246888" y="841248"/>
            <a:ext cx="1874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Diák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" y="1453896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Menü böngészése és ételek rendelése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Virtuális pénztárca kezelése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Rendelési előzmények megtekintése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Hűségpontok gyűjtése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Ételek értékelése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QR kódos azonosítás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50008" y="777240"/>
            <a:ext cx="205740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2350008" y="777240"/>
            <a:ext cx="20574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2441448" y="841248"/>
            <a:ext cx="1874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Szülő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41448" y="1453896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Gyermek rendeléseinek követése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Rendelés a gyermek nevére (szülői pénztárcáról)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Fizetések kezelése (PayPal, Google Pay)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Értesítések fogadása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Gyermek pénztárcajának feltöltése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Több gyermek követése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44568" y="777240"/>
            <a:ext cx="205740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4544568" y="777240"/>
            <a:ext cx="205740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4636008" y="841248"/>
            <a:ext cx="1874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Adminisztrátor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36008" y="1453896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Menüelem kezelése (CRUD)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Rendelések és statisztikák elemzése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Felhasználók kezelése, tiltása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Napi menü összeállítása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Biztonsági naplók megtekintése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Valós idejű rendelési statisztikák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39128" y="777240"/>
            <a:ext cx="205740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739128" y="777240"/>
            <a:ext cx="205740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830568" y="841248"/>
            <a:ext cx="1874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Szerkesztő (Editor)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30568" y="1453896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Menüelemek és napi menük szerkesztése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Leírások, árak, allergéninfok frissítése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Készletszintek és elérhetőség kezelése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Rendelési oldal böngészése (csak megtekintés)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Rendelés leadása TILTOTT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</a:rPr>
              <a:t>denyEditorOrderPlacement middleware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Technológiák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141732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393192" y="77724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Réteg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737360" y="777240"/>
            <a:ext cx="233172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1810512" y="7772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Technológia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69080" y="777240"/>
            <a:ext cx="4480560" cy="402336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142232" y="7772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Indok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1179576"/>
            <a:ext cx="14173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93192" y="11795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Backend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737360" y="1179576"/>
            <a:ext cx="23317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810512" y="11795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Node.js + Express.js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069080" y="1179576"/>
            <a:ext cx="448056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142232" y="11795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Egységes JS full-stack, eseményalapú I/O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1636776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393192" y="16367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Adatbázis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737360" y="1636776"/>
            <a:ext cx="2331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1810512" y="16367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MongoDB + Mongoose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9080" y="1636776"/>
            <a:ext cx="4480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4142232" y="16367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Rugalmas NoSQL dokumentummodell, skálázható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2093976"/>
            <a:ext cx="14173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393192" y="20939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Caching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737360" y="2093976"/>
            <a:ext cx="23317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810512" y="20939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Redis + Lua szkriptek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69080" y="2093976"/>
            <a:ext cx="448056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142232" y="20939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Atomi műveletek, rate limiting, session tárolás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2551176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393192" y="25511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Frontend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737360" y="2551176"/>
            <a:ext cx="2331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1810512" y="25511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React.js + Tailwind CSS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9080" y="2551176"/>
            <a:ext cx="4480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142232" y="25511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Komponens-alapú UI, reszponzív design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008376"/>
            <a:ext cx="14173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393192" y="30083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Hitelesítés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737360" y="3008376"/>
            <a:ext cx="23317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6"/>
          <p:cNvSpPr/>
          <p:nvPr/>
        </p:nvSpPr>
        <p:spPr>
          <a:xfrm>
            <a:off x="1810512" y="30083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JWT + bcrypt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069080" y="3008376"/>
            <a:ext cx="448056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0" name="Text 38"/>
          <p:cNvSpPr/>
          <p:nvPr/>
        </p:nvSpPr>
        <p:spPr>
          <a:xfrm>
            <a:off x="4142232" y="30083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Token-alapú auth, jelszóhash-elés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0040" y="3465576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2" name="Text 40"/>
          <p:cNvSpPr/>
          <p:nvPr/>
        </p:nvSpPr>
        <p:spPr>
          <a:xfrm>
            <a:off x="393192" y="34655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Fizetés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737360" y="3465576"/>
            <a:ext cx="2331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4" name="Text 42"/>
          <p:cNvSpPr/>
          <p:nvPr/>
        </p:nvSpPr>
        <p:spPr>
          <a:xfrm>
            <a:off x="1810512" y="34655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PayPal SDK + Google Pay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069080" y="3465576"/>
            <a:ext cx="4480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6" name="Text 44"/>
          <p:cNvSpPr/>
          <p:nvPr/>
        </p:nvSpPr>
        <p:spPr>
          <a:xfrm>
            <a:off x="4142232" y="34655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PCI-kompatibilis, megbízható gateway-ek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20040" y="3922776"/>
            <a:ext cx="14173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8" name="Text 46"/>
          <p:cNvSpPr/>
          <p:nvPr/>
        </p:nvSpPr>
        <p:spPr>
          <a:xfrm>
            <a:off x="393192" y="39227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Valós idő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737360" y="3922776"/>
            <a:ext cx="23317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0" name="Text 48"/>
          <p:cNvSpPr/>
          <p:nvPr/>
        </p:nvSpPr>
        <p:spPr>
          <a:xfrm>
            <a:off x="1810512" y="39227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Socket.IO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69080" y="3922776"/>
            <a:ext cx="448056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2" name="Text 50"/>
          <p:cNvSpPr/>
          <p:nvPr/>
        </p:nvSpPr>
        <p:spPr>
          <a:xfrm>
            <a:off x="4142232" y="39227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Kétányú valós idejű kommunikáció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20040" y="4379976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4" name="Text 52"/>
          <p:cNvSpPr/>
          <p:nvPr/>
        </p:nvSpPr>
        <p:spPr>
          <a:xfrm>
            <a:off x="393192" y="4379976"/>
            <a:ext cx="134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Biztonság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1737360" y="4379976"/>
            <a:ext cx="2331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6" name="Text 54"/>
          <p:cNvSpPr/>
          <p:nvPr/>
        </p:nvSpPr>
        <p:spPr>
          <a:xfrm>
            <a:off x="1810512" y="4379976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Helmet, HPP, CORS, zxcvbn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069080" y="4379976"/>
            <a:ext cx="4480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8" name="Text 56"/>
          <p:cNvSpPr/>
          <p:nvPr/>
        </p:nvSpPr>
        <p:spPr>
          <a:xfrm>
            <a:off x="4142232" y="4379976"/>
            <a:ext cx="4407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HTTP fejlécek, XSS, CSRF, jelszó-erősség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10972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334155"/>
                </a:solidFill>
              </a:rPr>
              <a:t>03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274320" y="2212848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Hogyan dolgoztunk?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4B8A6"/>
                </a:solidFill>
              </a:rPr>
              <a:t>Projektszervezés és munkamegosztás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Projektszervezés — Gantt-diagram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</a:rPr>
              <a:t>Projektmenedzsment módszer: Gantt-diagram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50292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 fejlesztés fázisait Gantt-diagram segítségével terveztük meg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Az egyes feladatok ütemezése és függőségei vizuálisan áttekinthetők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Heti miliardsőkővek és sprint-határok kerültek meghatározásra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 határidők betartása és az előrehalaadás nyomon követése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Fő fázisok: terv → backend → frontend → tesztelés → éles élesítés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228600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084217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947057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H2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802674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1665514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H3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521131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2383971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H4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39589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3102429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H5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958046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3820886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676503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539343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H7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394960" y="3081528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5257800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H8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127248"/>
            <a:ext cx="1077686" cy="2926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20624" y="3127248"/>
            <a:ext cx="10045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Tervezés &amp; architektúra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27909" y="3474720"/>
            <a:ext cx="2514600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282773" y="3474720"/>
            <a:ext cx="2441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Backend fejlesztés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161903" y="3822192"/>
            <a:ext cx="2011680" cy="2926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2216767" y="3822192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Frontend fejlesztés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598817" y="4169664"/>
            <a:ext cx="1293223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3653681" y="4169664"/>
            <a:ext cx="12200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Tesztelés &amp; hibajavítás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317274" y="4517136"/>
            <a:ext cx="862149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4372138" y="4517136"/>
            <a:ext cx="7889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Dokumentáció &amp; élesítés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349240" y="749808"/>
            <a:ext cx="3429000" cy="42062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5349240" y="749808"/>
            <a:ext cx="3429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Gantt-diagram kepernyoőkep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[ide illesszuk be a projekttervezo eszkoz kepet]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Munkamegosztás — Ki, mit csinált?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83464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834640" cy="65836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38328" y="80467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Kugli Balázs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" y="1133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CFBF1"/>
                </a:solidFill>
              </a:rPr>
              <a:t>Backend + Frontend + Caching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508760"/>
            <a:ext cx="2615184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Node.js/Express.js szerver architektúra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MongoDB adatbázis modellezés (Mongoose)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Redis cache és Lua szkriptek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REST API végpontok implementálása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React komponensek fejlesztése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JWT + 2FA hitelesítési rendszer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PayPal és Google Pay integráció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Socket.IO valós </a:t>
            </a:r>
            <a:r>
              <a:rPr lang="en-US" sz="1100" dirty="0" err="1">
                <a:solidFill>
                  <a:srgbClr val="1E293B"/>
                </a:solidFill>
              </a:rPr>
              <a:t>idejű</a:t>
            </a:r>
            <a:r>
              <a:rPr lang="en-US" sz="1100" dirty="0">
                <a:solidFill>
                  <a:srgbClr val="1E293B"/>
                </a:solidFill>
              </a:rPr>
              <a:t> </a:t>
            </a:r>
            <a:r>
              <a:rPr lang="en-US" sz="1100" dirty="0" err="1">
                <a:solidFill>
                  <a:srgbClr val="1E293B"/>
                </a:solidFill>
              </a:rPr>
              <a:t>frissítések</a:t>
            </a:r>
            <a:endParaRPr lang="en-US" sz="1100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100" dirty="0" err="1">
                <a:solidFill>
                  <a:srgbClr val="1E293B"/>
                </a:solidFill>
              </a:rPr>
              <a:t>Tesztfelhasználók</a:t>
            </a:r>
            <a:r>
              <a:rPr lang="en-US" sz="1100" dirty="0">
                <a:solidFill>
                  <a:srgbClr val="1E293B"/>
                </a:solidFill>
              </a:rPr>
              <a:t> </a:t>
            </a:r>
            <a:r>
              <a:rPr lang="en-US" sz="1100" dirty="0" err="1">
                <a:solidFill>
                  <a:srgbClr val="1E293B"/>
                </a:solidFill>
              </a:rPr>
              <a:t>létrehozása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 err="1">
                <a:solidFill>
                  <a:srgbClr val="1E293B"/>
                </a:solidFill>
              </a:rPr>
              <a:t>Biztonsági</a:t>
            </a:r>
            <a:r>
              <a:rPr lang="en-US" sz="1100" dirty="0">
                <a:solidFill>
                  <a:srgbClr val="1E293B"/>
                </a:solidFill>
              </a:rPr>
              <a:t> </a:t>
            </a:r>
            <a:r>
              <a:rPr lang="en-US" sz="1100" dirty="0" err="1">
                <a:solidFill>
                  <a:srgbClr val="1E293B"/>
                </a:solidFill>
              </a:rPr>
              <a:t>tesztelés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 err="1">
                <a:solidFill>
                  <a:srgbClr val="1E293B"/>
                </a:solidFill>
              </a:rPr>
              <a:t>Teljesítménytesztelés</a:t>
            </a:r>
            <a:r>
              <a:rPr lang="en-US" sz="1100" dirty="0">
                <a:solidFill>
                  <a:srgbClr val="1E293B"/>
                </a:solidFill>
              </a:rPr>
              <a:t> (Artillery)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/>
              <a:t>Tailwind CSS </a:t>
            </a:r>
            <a:r>
              <a:rPr lang="en-US" sz="1100" dirty="0" err="1"/>
              <a:t>testreszabás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 err="1"/>
              <a:t>Felhasználói</a:t>
            </a:r>
            <a:r>
              <a:rPr lang="en-US" sz="1100" dirty="0"/>
              <a:t> </a:t>
            </a:r>
            <a:r>
              <a:rPr lang="en-US" sz="1100" dirty="0" err="1"/>
              <a:t>felület</a:t>
            </a:r>
            <a:r>
              <a:rPr lang="en-US" sz="1100" dirty="0"/>
              <a:t> </a:t>
            </a:r>
            <a:r>
              <a:rPr lang="en-US" sz="1100" dirty="0" err="1"/>
              <a:t>tervezés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 err="1"/>
              <a:t>Reszponzív</a:t>
            </a:r>
            <a:r>
              <a:rPr lang="en-US" sz="1100" dirty="0"/>
              <a:t> </a:t>
            </a:r>
            <a:r>
              <a:rPr lang="en-US" sz="1100" dirty="0" err="1"/>
              <a:t>mobil</a:t>
            </a:r>
            <a:r>
              <a:rPr lang="en-US" sz="1100" dirty="0"/>
              <a:t> </a:t>
            </a:r>
            <a:r>
              <a:rPr lang="en-US" sz="1100" dirty="0" err="1"/>
              <a:t>nézetek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/>
              <a:t>CSS </a:t>
            </a:r>
            <a:r>
              <a:rPr lang="en-US" sz="1100" dirty="0" err="1"/>
              <a:t>animációk</a:t>
            </a:r>
            <a:r>
              <a:rPr lang="en-US" sz="1100" dirty="0"/>
              <a:t> </a:t>
            </a:r>
            <a:r>
              <a:rPr lang="en-US" sz="1100" dirty="0" err="1"/>
              <a:t>és</a:t>
            </a:r>
            <a:r>
              <a:rPr lang="en-US" sz="1100" dirty="0"/>
              <a:t> </a:t>
            </a:r>
            <a:r>
              <a:rPr lang="en-US" sz="1100" dirty="0" err="1"/>
              <a:t>átmenetek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777240"/>
            <a:ext cx="283464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00400" y="777240"/>
            <a:ext cx="2834640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3310128" y="80467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Hargitai Tamás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10128" y="1133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CFBF1"/>
                </a:solidFill>
              </a:rPr>
              <a:t>Tesztelés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310128" y="1508760"/>
            <a:ext cx="2615184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Egység- és integrációs tesztek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Playwright end-to-end </a:t>
            </a:r>
            <a:r>
              <a:rPr lang="en-US" sz="1100" dirty="0" err="1">
                <a:solidFill>
                  <a:srgbClr val="1E293B"/>
                </a:solidFill>
              </a:rPr>
              <a:t>tesztek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777240"/>
            <a:ext cx="2834640" cy="42062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6172200" y="777240"/>
            <a:ext cx="283464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6281928" y="80467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Peti Aliz Andrea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81928" y="113385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CFBF1"/>
                </a:solidFill>
              </a:rPr>
              <a:t>UI/UX — Dark Mode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81928" y="1508760"/>
            <a:ext cx="2615184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Dark mode </a:t>
            </a:r>
            <a:r>
              <a:rPr lang="en-US" sz="1100" dirty="0" err="1">
                <a:solidFill>
                  <a:srgbClr val="1E293B"/>
                </a:solidFill>
              </a:rPr>
              <a:t>implementáció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03120"/>
            <a:ext cx="10972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274320" y="1417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334155"/>
                </a:solidFill>
              </a:rPr>
              <a:t>04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274320" y="2212848"/>
            <a:ext cx="8412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A kész szoftver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7432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4B8A6"/>
                </a:solidFill>
              </a:rPr>
              <a:t>Funkciók, forráskód és képernyőképek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Hitelesítés é Biztonság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Biztonsági rétegek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062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Email alapú fiókellenőrzés (SendGrid)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Kétlépcsős azonosítás (2FA) Redis tárolással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JWT token alapú session kezelés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bcrypt jelszóhash-elés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Rate limiting (5 kísérlet/óra, brute-force védelem)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IP alapú geolokaláció és VPN detektálás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Biztonsági napló (90 napos TTL)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XSS, HPP, CSRF védelem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58740" y="868680"/>
            <a:ext cx="4069080" cy="288036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268468" y="960120"/>
            <a:ext cx="384962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src/auth/login.js - Brute-force vedelem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rateLimitKey = `login_attempts:${clientIp}`;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attempts = await redisClient.get(rateLimitKey);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attemptCount = attempts ? parseInt(attempts) : 0;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(attemptCount &gt;= 5)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res.status(429).send(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"Too many login attempts. Try again later."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Kiserlet szamlalasa (1 ora TTL)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redisClient.setEx(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rateLimitKey, 3600, (attemptCount + 1).toString()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2FA kod tarolasa Redis-ben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store2FACode(userId, code, ttl=1500)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key = `2fa:${userId}`;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redisClient.setEx(key, ttl, String(code));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754880" y="374904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50A008E-ACFB-D8B3-B1F9-2D6427F3D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440" y="2759964"/>
            <a:ext cx="1905000" cy="22399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Redis Cache és Lua szkriptek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Atomi műveletek és gyorsítótárazás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062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Redis cache API válaszokhoz és sessionhoz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Lua szkriptek atomi pénztárca-frissítéshez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Session tárolás Redis-ben (connect-redis)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Rate limiting RedisStore-ral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2FA kódok időleges tárolása (TTL: 25 perc)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Pub/Sub valós idejű értesítésekhez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Dashboard change streams (MongoDB + Redis)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333756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64608" y="841248"/>
            <a:ext cx="3849624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src/redis-lua.js - Lua script betoltese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RedisLua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loadScript(scriptName, script)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sha = await this.client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.scriptLoad(script);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this.scripts.set(scriptName, { sha, script });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sha;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executeScript(name, numKeys, args)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{ sha } = this.scripts.get(name);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this.client.evalSha(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sha, { keys: args.slice(0, numKeys),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arguments: args.slice(numKeys)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Pénztárca atomi csokkentese Lua-val: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KEYS[1] = user:{id}:balance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bal = tonumber(redis.call('GET',KEYS[1]))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bal &gt;= tonumber(ARGV[1]) then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redis.call('DECRBY', KEYS[1], ARGV[1])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1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4206240"/>
            <a:ext cx="4069080" cy="73152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754880" y="420624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Redis monitor / cache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Rendelési rendszer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Funkciók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Dinamikus menükezelés kategóriákkal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Valós idejű készletkövetés riasztásokkal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QR kód integráció és allergén-szűrő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Napi menü (reggeli/délutáni időszak)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Rendelési státusz követése (Pending → kész)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Hűségpont jóváírás rendelés után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Kosár és mobilos optimalizált nézet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Editor: minden funkció tiltott (isEditor prop)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Szülő: gyermek-kiválasztó panel (selectedChildId)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288036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64608" y="841248"/>
            <a:ext cx="384962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MongoDB Order schema (src/Orders/Order.js)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userId:       ObjectId (ref: User),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items: [{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menuItemId: ObjectId (ref: MenuItems),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quantity:   Number (min: 1),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unitPrice:  Number,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totalPrice: Number   // quantity * unitPrice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       "Pending"|"Completed"|"Cancelled",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totalAmount:    Number,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pickupTime:     Date,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paypalOrderId:  String (unique, optional),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paymentMethod:  "PayPal"|"GooglePay"|"Wallet",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publicID:       String (unique, URL-safe),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orderDate:      Date (default: now)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Compound index a gyors kereseshez: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userId:1, status:1, orderDate:-1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4880" y="3749040"/>
            <a:ext cx="4069080" cy="118872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754880" y="374904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Rendelési oldal / kosar nezet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Fizetési integráció — PayPal és Google Pay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Fizetési megoldások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PayPal SDK (@paypal/paypal-server-sdk)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Google Pay API integráció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Virtuális pénztárca egyenleg rendszer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Atomi tranzakciók Redis Lua szkriptekkel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Idempotens kérések (transactionId unique)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Audit trail minden pénzügyi eseménynél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Többdevizás támogatás (USD, HUF)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333756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64608" y="841248"/>
            <a:ext cx="3849624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src/payments/paypal.js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router.post('/paypal', async (req, res) =&gt; 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orderID, amount, currency,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payerID } = req.body;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Validate required fields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(!orderID || !amount)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res.status(400).json({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'Missing required fields'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Save transaction to DB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Payment.create({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userId,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amount: parseFloat(amount),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currency: currency || 'USD',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paymentMethod: 'PayPal',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status: 'Completed',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transactionId: orderID   // unique index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Atomic wallet update via Lua script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redisLuaService.executeScript(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'updateWallet', 1, [userId, amount]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4880" y="4206240"/>
            <a:ext cx="4069080" cy="73152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754880" y="420624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PayPal / Google Pay checkout</a:t>
            </a:r>
            <a:endParaRPr lang="en-US" sz="11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8203F9-E2CB-353D-D426-478B53AB9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978" y="4206240"/>
            <a:ext cx="4238884" cy="8372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Admin Dashboard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Adminisztrátori funkciók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062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Menüelem létrehozása, szerkesztése, törlése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Rendelések kezelése és állapotfrissítése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Felhasználók kezelése (tiltás, szerepkörök)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Napi menü összeállítása és közzététele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Valós idejű rendelési statisztikák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Biztonsági naplók és audit trail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Socket.IO alapú élő frissítések (change streams)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Szülő-diák kapcsolatok kezelése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749808"/>
            <a:ext cx="4069080" cy="19202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754880" y="74980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Admin dashboard főoldal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2788920"/>
            <a:ext cx="4069080" cy="21488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754880" y="2788920"/>
            <a:ext cx="40690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Menükezeőlő / rendeléslisatázó</a:t>
            </a:r>
            <a:endParaRPr lang="en-US" sz="11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0EEA62-940A-99F1-1874-134507DCE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611680"/>
            <a:ext cx="4138042" cy="219649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24C454-0560-3BF1-F457-17226AAA43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2" y="2808176"/>
            <a:ext cx="4059078" cy="22290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Adatbázis architektúra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Fő MongoDB entitások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161288"/>
            <a:ext cx="4389120" cy="42062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20040" y="11612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57200" y="11612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User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874520" y="11612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Felhasználói identitás, egyenleg, eszközök (E2EE)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618488"/>
            <a:ext cx="4389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0040" y="16184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57200" y="16184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MenuItems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74520" y="16184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Ételek, allergének, készlet, értékelések (beágyazva)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075688"/>
            <a:ext cx="4389120" cy="42062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320040" y="20756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57200" y="20756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Order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874520" y="20756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Rendelések, tételsorok, státusz, fizetési azonosítók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2532888"/>
            <a:ext cx="4389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7"/>
          <p:cNvSpPr/>
          <p:nvPr/>
        </p:nvSpPr>
        <p:spPr>
          <a:xfrm>
            <a:off x="320040" y="25328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457200" y="25328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Payment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874520" y="25328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Tranzakciók, deviza, audit trail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2990088"/>
            <a:ext cx="4389120" cy="42062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0040" y="29900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57200" y="29900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DailyMenu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874520" y="29900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Napi menûk időszakonként (N:M kapcsolat)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447288"/>
            <a:ext cx="4389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Shape 25"/>
          <p:cNvSpPr/>
          <p:nvPr/>
        </p:nvSpPr>
        <p:spPr>
          <a:xfrm>
            <a:off x="320040" y="34472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57200" y="34472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UserLoyalty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874520" y="34472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Pontok, szintek, kedvezmények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904488"/>
            <a:ext cx="4389120" cy="420624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320040" y="39044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457200" y="39044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SecurityLogs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874520" y="39044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Eseménynaplók (90 napos TTL)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" y="4361688"/>
            <a:ext cx="4389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Shape 33"/>
          <p:cNvSpPr/>
          <p:nvPr/>
        </p:nvSpPr>
        <p:spPr>
          <a:xfrm>
            <a:off x="320040" y="4361688"/>
            <a:ext cx="64008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57200" y="436168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</a:rPr>
              <a:t>Message+PreKey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874520" y="436168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E2EE üzenetek, X3DH kulcscsere</a:t>
            </a:r>
            <a:endParaRPr lang="en-US" sz="1000" dirty="0"/>
          </a:p>
        </p:txBody>
      </p:sp>
      <p:pic>
        <p:nvPicPr>
          <p:cNvPr id="38" name="Image 0" descr="doc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257" y="681228"/>
            <a:ext cx="4206240" cy="448013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E2EE Chat és Hűségprogram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749808"/>
            <a:ext cx="420624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11480" y="7498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Vegponttol vegpontig titkositott chat (E2EE)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X3DH (Extended Triple Diffie-Hellman) kulcscsere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PreKey alapú titkosítás (Signal protokoll ihlet)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Titkosított üzenetek és szinkronizált eszközök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DeviceSyncSession ideiglenes szinkronizációhoz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StorageBlob titkosított előzmények mentéséhez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3017520"/>
            <a:ext cx="42062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11480" y="30175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Husegprogram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3438144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Pontgyűjtés minden rendelés után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Szintrendszer (Bronze → Silver → Gold)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Automatikus kedvezmények alkalmazása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Redis atomi művelet pontjóváíráshoz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749808"/>
            <a:ext cx="4069080" cy="19202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754880" y="74980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E2EE chat interface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788920"/>
            <a:ext cx="4069080" cy="21488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754880" y="2788920"/>
            <a:ext cx="40690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Kepernyoőkep: Hűségprogram / pontok oldal</a:t>
            </a:r>
            <a:endParaRPr lang="en-US" sz="11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5B59127-22A6-69F7-7C2D-10341F126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752456"/>
            <a:ext cx="4404360" cy="2221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Rendszer architektúra</a:t>
            </a:r>
            <a:endParaRPr lang="en-US" sz="2200" dirty="0"/>
          </a:p>
        </p:txBody>
      </p:sp>
      <p:pic>
        <p:nvPicPr>
          <p:cNvPr id="5" name="Image 0" descr="docs/diagrams/output-1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85800"/>
            <a:ext cx="85953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Adatfolyam diagram</a:t>
            </a:r>
            <a:endParaRPr lang="en-US" sz="2200" dirty="0"/>
          </a:p>
        </p:txBody>
      </p:sp>
      <p:pic>
        <p:nvPicPr>
          <p:cNvPr id="5" name="Image 0" descr="docs/diagrams/output-2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85800"/>
            <a:ext cx="85953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Kétlépcsős azonosítás (2FA) — folyamat</a:t>
            </a:r>
            <a:endParaRPr lang="en-US" sz="2200" dirty="0"/>
          </a:p>
        </p:txBody>
      </p:sp>
      <p:pic>
        <p:nvPicPr>
          <p:cNvPr id="5" name="Image 0" descr="docs/diagrams/output-9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85800"/>
            <a:ext cx="85953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Frontend architektúra</a:t>
            </a:r>
            <a:endParaRPr lang="en-US" sz="2200" dirty="0"/>
          </a:p>
        </p:txBody>
      </p:sp>
      <p:pic>
        <p:nvPicPr>
          <p:cNvPr id="5" name="Image 0" descr="docs/diagrams/output-13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85800"/>
            <a:ext cx="85953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Redis kulcsszerkezet és architektúra</a:t>
            </a:r>
            <a:endParaRPr lang="en-US" sz="2200" dirty="0"/>
          </a:p>
        </p:txBody>
      </p:sp>
      <p:pic>
        <p:nvPicPr>
          <p:cNvPr id="5" name="Image 0" descr="docs/diagrams/snaptray_redis_key_ma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85800"/>
            <a:ext cx="8595360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Repositórium áttekintés — onefetch #1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iskolaprojekt-1 — kódbázis statisztikák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7490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65760" y="1170432"/>
            <a:ext cx="8412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onefetch kimenet #1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[ Futtasd: onefetch ]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A parancs kimenetét illesszd be ide képernyőképként.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Megmutatja: nyelvek aránya, commit-szám, közremaűködők, repo mérete.</a:t>
            </a:r>
            <a:endParaRPr lang="en-US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DE683F-5119-1681-A829-0D2AC2469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7572"/>
            <a:ext cx="8614638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Repositórium áttekintés — onefetch #2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iskolaprojekt-1 — részletes statisztikák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3749040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365760" y="1170432"/>
            <a:ext cx="8412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onefetch kimenet #2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[ Futtasd: onefetch --no-color ]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A parancs kimenetét illesszd be ide képernyőképként.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Megmutatja: fájlok száma, héterköd sorok, átlagos commit mérete.</a:t>
            </a:r>
            <a:endParaRPr lang="en-US" sz="11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28CA9A-5B0F-6179-946E-DCEBEF8CB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" y="1170432"/>
            <a:ext cx="8519160" cy="390999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914400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320040" y="36576"/>
            <a:ext cx="8503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Teljesítményteszt — autocannon (35 000 kérés/s)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</a:rPr>
              <a:t>Tesztkörnyezet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152144"/>
            <a:ext cx="4206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</a:rPr>
              <a:t>35 000 kérés/másodperc (r/s) nehéz adatbázis ütvonalon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</a:rPr>
              <a:t>autocannon -c 100 -d 30 http://localhost:3000/...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</a:rPr>
              <a:t>100 párhuzamos kapcsolat, 30 másodperces teszt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 err="1">
                <a:solidFill>
                  <a:srgbClr val="1E293B"/>
                </a:solidFill>
              </a:rPr>
              <a:t>Átlagos</a:t>
            </a:r>
            <a:r>
              <a:rPr lang="en-US" sz="1150" dirty="0">
                <a:solidFill>
                  <a:srgbClr val="1E293B"/>
                </a:solidFill>
              </a:rPr>
              <a:t> késés: &lt;3ms (Redis cache aktivával)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</a:rPr>
              <a:t>P99 késés: &lt;10ms terhelt környezetben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</a:rPr>
              <a:t>Node.js klaszter mód és connection-pool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0040" y="3259183"/>
            <a:ext cx="4206240" cy="1678577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29768" y="3425082"/>
            <a:ext cx="3986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autocannon teszt futtatása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autocannon -c 100 -d 30 \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http://localhost:3000/api/menu-items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Eredmény: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    Avg     StdDev  Max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 0.28ms  0.5ms   12ms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Req/Sec  35 000  2 100   38 500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Bytes/s  12.4 MB 1.1 MB  14.8 MB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solidFill>
            <a:srgbClr val="CBD5E1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4754880" y="749808"/>
            <a:ext cx="406908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autocannon eredmény képernyőkép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35 000 req/s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[illesszd be a képernyőképet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</a:rPr>
              <a:t>az autocannon parancs kimenetével]</a:t>
            </a:r>
            <a:endParaRPr lang="en-US" sz="11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6874BAA-3BAF-AACA-6C34-C38813263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2" y="716280"/>
            <a:ext cx="4524786" cy="439064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Köszönjük a figyelmet!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4B8A6"/>
                </a:solidFill>
              </a:rPr>
              <a:t>SnapTray — Iskolái Menza Rendelőrendszer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3017520"/>
            <a:ext cx="5486400" cy="1508760"/>
          </a:xfrm>
          <a:prstGeom prst="rect">
            <a:avLst/>
          </a:prstGeom>
          <a:solidFill>
            <a:srgbClr val="0F264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1828800" y="3017520"/>
            <a:ext cx="54864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</a:rPr>
              <a:t>Kugli Balázs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</a:rPr>
              <a:t>Hargitai Tamás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B8A6"/>
                </a:solidFill>
              </a:rPr>
              <a:t>Peti Aliz Andrea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</a:rPr>
              <a:t>Van kérdés?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1906</Words>
  <Application>Microsoft Office PowerPoint</Application>
  <PresentationFormat>On-screen Show (16:9)</PresentationFormat>
  <Paragraphs>411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SnapTray - Iskolai Menza Rendelőrendszer</dc:title>
  <dc:subject>PptxGenJS Presentation</dc:subject>
  <dc:creator>SnapTray Team</dc:creator>
  <cp:lastModifiedBy>bivorzk</cp:lastModifiedBy>
  <cp:revision>11</cp:revision>
  <dcterms:created xsi:type="dcterms:W3CDTF">2026-04-14T19:01:25Z</dcterms:created>
  <dcterms:modified xsi:type="dcterms:W3CDTF">2026-04-15T07:53:01Z</dcterms:modified>
</cp:coreProperties>
</file>