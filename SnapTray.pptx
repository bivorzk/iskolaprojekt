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6" r:id="rId10"/>
    <p:sldId id="264" r:id="rId11"/>
    <p:sldId id="265" r:id="rId12"/>
    <p:sldId id="266" r:id="rId13"/>
    <p:sldId id="267" r:id="rId14"/>
    <p:sldId id="268" r:id="rId15"/>
    <p:sldId id="294" r:id="rId16"/>
    <p:sldId id="293" r:id="rId17"/>
    <p:sldId id="269" r:id="rId18"/>
    <p:sldId id="272" r:id="rId19"/>
    <p:sldId id="300" r:id="rId20"/>
    <p:sldId id="295" r:id="rId21"/>
    <p:sldId id="279" r:id="rId22"/>
    <p:sldId id="280" r:id="rId23"/>
    <p:sldId id="297" r:id="rId24"/>
    <p:sldId id="298" r:id="rId25"/>
    <p:sldId id="299" r:id="rId26"/>
    <p:sldId id="291" r:id="rId27"/>
    <p:sldId id="29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0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A3644-24EE-2C70-23A0-78A3ADCD2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09BCA-0617-C664-6409-4E8FD7E0A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71621-7424-F284-4DF8-F7D004479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C7D31-12E8-E027-56EE-A699C152E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53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A993-A1E3-320D-16A5-BBE8DA80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FA8A1-C72A-50BF-8F95-24EFEC5F7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4CBE5-AE12-E3BE-9554-D812A1BE1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495B0-857B-02FB-71A4-8A3F413732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05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94347-49ED-69F2-26C8-9C06C896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A461F0-8AD6-7B5D-C4D0-9DEAEA3FF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4F796-CD6F-5666-83DE-09AA5C463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5450A-3E16-E024-9937-495518CE3D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19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9535-64F3-AD07-78F2-65766D183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6E5BB-33BC-FFDF-9066-C240914A8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B6B72-CE64-A229-7A12-874593F0A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B2F32-E8C5-5C5D-E3BC-039325948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43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54709-E239-648C-1FCB-5B5A59AC2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A10B2-4967-1EC9-49B1-71AE42A5A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C3C84-8F1C-17FA-E97D-E14F70927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3CAD9-9B72-A79D-9788-C13091092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499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6DE7-2BBB-01B2-0D23-06ED79D78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09911-ACD8-B795-E122-78C255BF0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1EE57-6C18-7C3D-135A-6263ED6C7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40222-01FC-62AC-DE09-2B3777408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503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5E97-BF54-7F7C-D2FC-0B71C130F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8CA7C-48A7-96DB-EE0F-F82041B23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6BC8E-30B7-437E-534B-AF5FF4BD1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75F5A-C98B-5AC9-5D52-4DF20CF8F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452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4" name="Shape 2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6217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320040" y="214884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 Menza Rendel</a:t>
            </a:r>
            <a:r>
              <a:rPr lang="hu-HU" sz="22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22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22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</a:t>
            </a:r>
            <a:r>
              <a:rPr lang="hu-HU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  Hargitai Tam</a:t>
            </a:r>
            <a:r>
              <a:rPr lang="hu-HU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Peti Al</a:t>
            </a:r>
            <a:r>
              <a:rPr lang="hu-HU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Andrea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59D893-56C5-2508-468F-80D183EB9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010" y="2612898"/>
            <a:ext cx="4428990" cy="2109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1A50535-2A30-F411-DC0C-ED0DEC224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579" y="672910"/>
            <a:ext cx="4437778" cy="193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Tartalom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12064" y="8046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80467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lunk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bemutat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12064" y="159105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159105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technol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12064" y="23774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3774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dolgoztunk? -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Projektszervez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65760" y="31638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12064" y="316382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16382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szoftver -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4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r>
              <a:rPr lang="hu-HU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8412480" cy="65836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365760" y="3950208"/>
            <a:ext cx="73152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512064" y="39502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hu-HU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9502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450" dirty="0"/>
              <a:t>Elköszönés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hu-HU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bemutat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8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 az iskolai étkeztetés problémái?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papiralapú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lass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kkal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vethetik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tkez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szletgazd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lkod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id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folyamat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lemz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nehezen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749808"/>
            <a:ext cx="3154680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669280" y="749808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8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</a:t>
            </a:r>
            <a:r>
              <a:rPr lang="en-US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</a:t>
            </a: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tkez</a:t>
            </a:r>
            <a:r>
              <a:rPr lang="hu-HU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</a:t>
            </a: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</a:t>
            </a:r>
            <a:r>
              <a:rPr lang="hu-HU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950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950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</a:t>
            </a:r>
            <a:endParaRPr lang="en-US" sz="3800" dirty="0"/>
          </a:p>
          <a:p>
            <a:pPr marL="0" indent="0" algn="ctr">
              <a:buNone/>
            </a:pPr>
            <a:r>
              <a:rPr lang="en-US" sz="950" i="1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</a:t>
            </a:r>
            <a:r>
              <a:rPr lang="hu-HU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i="1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950" i="1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</a:t>
            </a:r>
            <a:r>
              <a:rPr lang="hu-HU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hi</a:t>
            </a:r>
            <a:r>
              <a:rPr lang="hu-HU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i="1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</a:t>
            </a: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miatt*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669280" y="2286000"/>
            <a:ext cx="315468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5669280" y="228600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r>
              <a:rPr lang="hu-H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hu-H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95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</a:t>
            </a:r>
            <a:r>
              <a:rPr lang="hu-HU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endParaRPr lang="en-US" sz="3800" dirty="0"/>
          </a:p>
          <a:p>
            <a:pPr marL="0" indent="0" algn="ctr">
              <a:buNone/>
            </a:pPr>
            <a:r>
              <a:rPr lang="en-US" sz="950" i="1" dirty="0" err="1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i="1" dirty="0" err="1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r>
              <a:rPr lang="hu-HU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</a:t>
            </a:r>
            <a:r>
              <a:rPr lang="hu-HU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i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 SnapTray-jel</a:t>
            </a:r>
            <a:endParaRPr lang="en-US" sz="3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megold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- SnapTray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Webalapú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menza-rendel</a:t>
            </a:r>
            <a:r>
              <a:rPr lang="hu-HU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iskolai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rnyezetbe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4632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2FA (Dioxus)  email-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bcrypt  CSRF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64408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429000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 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szletk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139903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208776" y="139903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6373368" y="14904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Fizetesi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3368" y="194767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SDK,  Google Pay,  p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84632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Editor dashboard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(simple-statistics) 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64408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3429000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titkos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tott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29000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+ Double Ratchet  ECDH P-256  Signal protokoll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2953512"/>
            <a:ext cx="2807208" cy="1389888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6208776" y="2953512"/>
            <a:ext cx="73152" cy="13898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6373368" y="30449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hu-HU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gprogram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73368" y="35021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Pontgy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r>
              <a:rPr lang="hu-H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Bronze-Platinum szintek  decay rendszer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</a:t>
            </a:r>
            <a:r>
              <a:rPr lang="hu-HU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</a:t>
            </a:r>
            <a:r>
              <a:rPr lang="en-US" sz="1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technol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800" b="1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hu-HU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b="1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5448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155448" y="749808"/>
            <a:ext cx="2084832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246888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lca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gpontok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(fuzzy)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azonos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68296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2368296" y="749808"/>
            <a:ext cx="2084832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459736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59736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egyenleg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Google Pay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ás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hagy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gyermek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vethet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81144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81144" y="749808"/>
            <a:ext cx="208483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672584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2584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(CRUD)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se, tilt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ssze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simple-statistics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elemz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3992" y="749808"/>
            <a:ext cx="2084832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6793992" y="749808"/>
            <a:ext cx="208483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6885432" y="79552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Szerkeszt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1417320"/>
            <a:ext cx="1901952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szerkeszt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szletszintek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kezelese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oldal: CSAK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megtekint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lead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TILTOTT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denyEditorOrderPlacement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MW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68096"/>
            <a:ext cx="146304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02336" y="768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hu-HU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83080" y="768096"/>
            <a:ext cx="242316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1865376" y="7680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</a:t>
            </a:r>
            <a:r>
              <a:rPr lang="hu-HU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768096"/>
            <a:ext cx="438912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288536" y="76809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170432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393192" y="117043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170432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1856232" y="1170432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1170432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279392" y="1170432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 full-stack,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nyalap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I/O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170432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320040" y="1623060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393192" y="162306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1623060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1856232" y="1623060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1623060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279392" y="1623060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Rugalmas NoSQL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dokumentum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zható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075688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393192" y="2075688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83080" y="2075688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1856232" y="2075688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Lua szkriptek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06240" y="2075688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279392" y="2075688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veletek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rate limiting, session tárolás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075688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320040" y="2528316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393192" y="2528316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83080" y="2528316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1856232" y="2528316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06240" y="2528316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279392" y="2528316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Komponens-alap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UI, reszponzív design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980944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393192" y="2980944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783080" y="2980944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1856232" y="2980944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+ 2FA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06240" y="2980944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2" name="Text 40"/>
          <p:cNvSpPr/>
          <p:nvPr/>
        </p:nvSpPr>
        <p:spPr>
          <a:xfrm>
            <a:off x="4279392" y="2980944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auth,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hash, Dioxus 2FA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2980944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4" name="Shape 42"/>
          <p:cNvSpPr/>
          <p:nvPr/>
        </p:nvSpPr>
        <p:spPr>
          <a:xfrm>
            <a:off x="320040" y="3433572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5" name="Text 43"/>
          <p:cNvSpPr/>
          <p:nvPr/>
        </p:nvSpPr>
        <p:spPr>
          <a:xfrm>
            <a:off x="393192" y="3433572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Fizet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83080" y="3433572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45"/>
          <p:cNvSpPr/>
          <p:nvPr/>
        </p:nvSpPr>
        <p:spPr>
          <a:xfrm>
            <a:off x="1856232" y="3433572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SDK + Google Pay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206240" y="3433572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9" name="Text 47"/>
          <p:cNvSpPr/>
          <p:nvPr/>
        </p:nvSpPr>
        <p:spPr>
          <a:xfrm>
            <a:off x="4279392" y="3433572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PCI-kompatibilis, atomi MongoDB tranzakciók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3886200"/>
            <a:ext cx="146304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1" name="Text 49"/>
          <p:cNvSpPr/>
          <p:nvPr/>
        </p:nvSpPr>
        <p:spPr>
          <a:xfrm>
            <a:off x="393192" y="3886200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id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783080" y="3886200"/>
            <a:ext cx="242316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3" name="Text 51"/>
          <p:cNvSpPr/>
          <p:nvPr/>
        </p:nvSpPr>
        <p:spPr>
          <a:xfrm>
            <a:off x="1856232" y="3886200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Change Streams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06240" y="3886200"/>
            <a:ext cx="4389120" cy="452628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5" name="Text 53"/>
          <p:cNvSpPr/>
          <p:nvPr/>
        </p:nvSpPr>
        <p:spPr>
          <a:xfrm>
            <a:off x="4279392" y="3886200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tiranyú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komm., MongoDB change stream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3886200"/>
            <a:ext cx="45720" cy="4526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7" name="Shape 55"/>
          <p:cNvSpPr/>
          <p:nvPr/>
        </p:nvSpPr>
        <p:spPr>
          <a:xfrm>
            <a:off x="320040" y="4338828"/>
            <a:ext cx="146304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8" name="Text 56"/>
          <p:cNvSpPr/>
          <p:nvPr/>
        </p:nvSpPr>
        <p:spPr>
          <a:xfrm>
            <a:off x="393192" y="4338828"/>
            <a:ext cx="13716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783080" y="4338828"/>
            <a:ext cx="242316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0" name="Text 58"/>
          <p:cNvSpPr/>
          <p:nvPr/>
        </p:nvSpPr>
        <p:spPr>
          <a:xfrm>
            <a:off x="1856232" y="4338828"/>
            <a:ext cx="2331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HPP, CORS, zxcvbn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206240" y="4338828"/>
            <a:ext cx="4389120" cy="452628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2" name="Text 60"/>
          <p:cNvSpPr/>
          <p:nvPr/>
        </p:nvSpPr>
        <p:spPr>
          <a:xfrm>
            <a:off x="4279392" y="4338828"/>
            <a:ext cx="42976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fejlec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CSRF, XSS,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jelszóer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r>
              <a:rPr lang="hu-HU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C6252-61C3-9A40-DBA8-E0B905A6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7E6898-42C6-4D0C-9695-0B1D8BB6A1C8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1843A8-3CB3-8BE0-8D56-989D50ECEF13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CF872A-5236-DCC3-54C5-81E2E9E9051A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,,Dióhéjban”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B80214-C954-D16F-4C72-DDE3B0EAB81F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16637D-27E2-8770-59C9-725920C9306D}"/>
              </a:ext>
            </a:extLst>
          </p:cNvPr>
          <p:cNvSpPr/>
          <p:nvPr/>
        </p:nvSpPr>
        <p:spPr>
          <a:xfrm>
            <a:off x="320040" y="1617306"/>
            <a:ext cx="4297680" cy="29592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BACCA9D-307C-E5B0-BAC2-DC859D455C90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6F86D0-1627-2846-64B5-86119D504B48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881685F-7134-E786-F458-7C112024D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658368"/>
            <a:ext cx="4693920" cy="435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0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dolgoztunk?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Projektszervez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hu-HU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Projektszerv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- Gantt-diagram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zisok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hat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Gantt-diagrammal tervezve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Heti m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érföldkövek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sprint-hat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Egym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zisok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backend =&gt; frontend =&gt;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zisok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terv -&gt; backend -&gt; frontend -&gt; teszt -&gt; 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56201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74658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93115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11573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30030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48487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66944" y="27157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1077686" cy="32918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11480" y="2971800"/>
            <a:ext cx="10319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&amp;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27909" y="3364992"/>
            <a:ext cx="251460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1273629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161903" y="3758184"/>
            <a:ext cx="201168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2207623" y="37581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98817" y="4151376"/>
            <a:ext cx="1293223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3644537" y="4151376"/>
            <a:ext cx="12475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&amp; </a:t>
            </a: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hibajav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17274" y="4544568"/>
            <a:ext cx="862149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362994" y="4544568"/>
            <a:ext cx="8164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Dokumentaci</a:t>
            </a:r>
            <a:r>
              <a:rPr lang="hu-HU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32120" y="749808"/>
            <a:ext cx="3291840" cy="4187952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/>
          <p:cNvSpPr/>
          <p:nvPr/>
        </p:nvSpPr>
        <p:spPr>
          <a:xfrm>
            <a:off x="5532120" y="749808"/>
            <a:ext cx="329184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Gantt-diagram kepernyo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illesszd be a projekttervezo eszkoz kepet</a:t>
            </a:r>
            <a:endParaRPr lang="en-US" sz="1050" dirty="0"/>
          </a:p>
        </p:txBody>
      </p:sp>
      <p:pic>
        <p:nvPicPr>
          <p:cNvPr id="28" name="Kép 27">
            <a:extLst>
              <a:ext uri="{FF2B5EF4-FFF2-40B4-BE49-F238E27FC236}">
                <a16:creationId xmlns:a16="http://schemas.microsoft.com/office/drawing/2014/main" id="{30A245AA-CCE2-70BB-E242-C383BAE9C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115" y="773684"/>
            <a:ext cx="3327850" cy="42759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– Ki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2852928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38328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</a:t>
            </a: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Frontend  Caching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Node.js/Express.js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(Mongoose)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+ Lua szkriptek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gpontok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s|a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komponensek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rendszer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es Google Pay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chat (Signal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hu-HU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Mobilalkalmazás fejlesztése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tmenetek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testreszab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felület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</a:t>
            </a:r>
            <a:r>
              <a:rPr lang="hu-HU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</a:p>
          <a:p>
            <a:pPr marL="342900" indent="-342900">
              <a:buSzPct val="100000"/>
              <a:buChar char="•"/>
            </a:pP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27832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1" name="Shape 9"/>
          <p:cNvSpPr/>
          <p:nvPr/>
        </p:nvSpPr>
        <p:spPr>
          <a:xfrm>
            <a:off x="3227832" y="749808"/>
            <a:ext cx="2852928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2" name="Text 10"/>
          <p:cNvSpPr/>
          <p:nvPr/>
        </p:nvSpPr>
        <p:spPr>
          <a:xfrm>
            <a:off x="3337560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Hargitai Tam</a:t>
            </a: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</a:t>
            </a:r>
            <a:r>
              <a:rPr lang="hu-HU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</a:rPr>
              <a:t>Egység</a:t>
            </a:r>
            <a:r>
              <a:rPr lang="en-US" sz="1050" dirty="0">
                <a:solidFill>
                  <a:srgbClr val="1E293B"/>
                </a:solidFill>
              </a:rPr>
              <a:t>- </a:t>
            </a:r>
            <a:r>
              <a:rPr lang="en-US" sz="1050" dirty="0" err="1">
                <a:solidFill>
                  <a:srgbClr val="1E293B"/>
                </a:solidFill>
              </a:rPr>
              <a:t>és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err="1">
                <a:solidFill>
                  <a:srgbClr val="1E293B"/>
                </a:solidFill>
              </a:rPr>
              <a:t>integrációs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err="1">
                <a:solidFill>
                  <a:srgbClr val="1E293B"/>
                </a:solidFill>
              </a:rPr>
              <a:t>tesztek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Cypress end-to-end </a:t>
            </a:r>
            <a:r>
              <a:rPr lang="en-US" sz="1050" dirty="0" err="1">
                <a:solidFill>
                  <a:srgbClr val="1E293B"/>
                </a:solidFill>
              </a:rPr>
              <a:t>tesztek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hu-HU" sz="1050" dirty="0">
                <a:solidFill>
                  <a:srgbClr val="1E293B"/>
                </a:solidFill>
              </a:rPr>
              <a:t>Együttműködés és támogatás</a:t>
            </a:r>
          </a:p>
          <a:p>
            <a:pPr>
              <a:buSzPct val="100000"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749808"/>
            <a:ext cx="2852928" cy="4279392"/>
          </a:xfrm>
          <a:prstGeom prst="rect">
            <a:avLst/>
          </a:prstGeom>
          <a:solidFill>
            <a:srgbClr val="FDF6F0"/>
          </a:solidFill>
          <a:ln w="1270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227064" y="749808"/>
            <a:ext cx="285292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17" name="Text 15"/>
          <p:cNvSpPr/>
          <p:nvPr/>
        </p:nvSpPr>
        <p:spPr>
          <a:xfrm>
            <a:off x="6336792" y="78638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 Al</a:t>
            </a:r>
            <a:r>
              <a:rPr lang="hu-H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Andrea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36792" y="11155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 Dark Mode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36792" y="1499616"/>
            <a:ext cx="2633472" cy="3438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Dark mode </a:t>
            </a:r>
            <a:r>
              <a:rPr lang="en-US" sz="1050" dirty="0" err="1">
                <a:solidFill>
                  <a:srgbClr val="1E293B"/>
                </a:solidFill>
              </a:rPr>
              <a:t>implementáció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hu-HU" sz="1050" dirty="0">
                <a:solidFill>
                  <a:srgbClr val="1E293B"/>
                </a:solidFill>
              </a:rPr>
              <a:t>Együttműködés és támogatás</a:t>
            </a:r>
          </a:p>
          <a:p>
            <a:pPr marL="342900" indent="-342900">
              <a:buSzPct val="100000"/>
              <a:buChar char="•"/>
            </a:pPr>
            <a:r>
              <a:rPr lang="hu-HU" sz="1050" dirty="0" err="1">
                <a:solidFill>
                  <a:srgbClr val="1E293B"/>
                </a:solidFill>
              </a:rPr>
              <a:t>Teacher</a:t>
            </a:r>
            <a:r>
              <a:rPr lang="hu-HU" sz="1050" dirty="0">
                <a:solidFill>
                  <a:srgbClr val="1E293B"/>
                </a:solidFill>
              </a:rPr>
              <a:t> </a:t>
            </a:r>
            <a:r>
              <a:rPr lang="hu-HU" sz="1050" dirty="0" err="1">
                <a:solidFill>
                  <a:srgbClr val="1E293B"/>
                </a:solidFill>
              </a:rPr>
              <a:t>dashboard</a:t>
            </a:r>
            <a:endParaRPr lang="hu-HU" sz="105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050" dirty="0" err="1"/>
              <a:t>Megjelenés</a:t>
            </a:r>
            <a:r>
              <a:rPr lang="en-US" sz="1050" dirty="0"/>
              <a:t> </a:t>
            </a:r>
            <a:r>
              <a:rPr lang="en-US" sz="1050" dirty="0" err="1"/>
              <a:t>finomhangolása</a:t>
            </a:r>
            <a:r>
              <a:rPr lang="en-US" sz="1050" dirty="0"/>
              <a:t> </a:t>
            </a:r>
            <a:r>
              <a:rPr lang="en-US" sz="1050" dirty="0" err="1"/>
              <a:t>különböző</a:t>
            </a:r>
            <a:r>
              <a:rPr lang="en-US" sz="1050" dirty="0"/>
              <a:t> </a:t>
            </a:r>
            <a:r>
              <a:rPr lang="en-US" sz="1050" dirty="0" err="1"/>
              <a:t>nézetekben</a:t>
            </a:r>
            <a:r>
              <a:rPr lang="en-US" sz="1050" dirty="0"/>
              <a:t> </a:t>
            </a:r>
          </a:p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</a:t>
            </a:r>
            <a:r>
              <a:rPr lang="hu-HU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4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szoftver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hu-HU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k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</a:t>
            </a:r>
            <a:endParaRPr lang="en-US" sz="18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menzánk főoldala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52144"/>
            <a:ext cx="42976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2286000" cy="228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4C5504C4-92F4-CA7D-3108-C0B36BD0D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24" y="850392"/>
            <a:ext cx="7800391" cy="40706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F78C4-899A-470B-BFEF-D002AEBC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2E19C2-FDD5-6EC1-0996-D8016EEDD154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53291C-43F7-D57D-A652-B191814238DE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F694D9-6D2C-63A7-0212-B6C4CC4C3CF2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rány</a:t>
            </a:r>
            <a:r>
              <a:rPr lang="en-GB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tópultok (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96648A-A275-C004-EA30-66F2FEA2E253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91A5E3-4EF4-3E25-BC76-87B08B983C5F}"/>
              </a:ext>
            </a:extLst>
          </p:cNvPr>
          <p:cNvSpPr/>
          <p:nvPr/>
        </p:nvSpPr>
        <p:spPr>
          <a:xfrm>
            <a:off x="320040" y="1152144"/>
            <a:ext cx="42976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E27EAE-9878-F869-D1AF-66A0C4E8AD2C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C98114-B79B-B286-728C-A4B299F4FD5B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52A38D25-ECE6-911C-EA61-A970070A1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40" y="618955"/>
            <a:ext cx="7132320" cy="460520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BA029B46-ADED-633C-5CBF-5C18FE586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727" y="565813"/>
            <a:ext cx="8618232" cy="4655508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D17215D8-1579-C338-32F4-A99F0AE47C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169" y="530352"/>
            <a:ext cx="8203094" cy="4746948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83D01AF6-2ACE-2A80-160E-28D482175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169" y="584486"/>
            <a:ext cx="8449885" cy="4675256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F0FC4DE9-5EC8-9086-E515-0468C0052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464" y="699924"/>
            <a:ext cx="2049978" cy="4559818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C54FEA7B-ABD6-91C9-49EB-D0545F7092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487" y="854967"/>
            <a:ext cx="1977622" cy="4327878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8510A759-8974-C9DB-C3D8-6F2C419FF3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3761" y="594360"/>
            <a:ext cx="2090408" cy="4661046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B8C86116-5924-41B2-F2ED-274F5068C7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1117" y="735385"/>
            <a:ext cx="2021195" cy="44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8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23548-BF6E-49C9-6E03-FBE8C51A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C07A9B-E13B-9C3F-A109-16D2C830B207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CB216D-5BB9-7E6B-B5F5-12E87A1863D8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311EC9-E0F4-0C70-CE2A-41A875226ADF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BE8576-B616-A2F4-1806-AFA6853BDA38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ű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001757-E106-5BDB-9FF6-546FCEC2DDD6}"/>
              </a:ext>
            </a:extLst>
          </p:cNvPr>
          <p:cNvSpPr/>
          <p:nvPr/>
        </p:nvSpPr>
        <p:spPr>
          <a:xfrm>
            <a:off x="320040" y="1152144"/>
            <a:ext cx="429768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 err="1"/>
              <a:t>Emailes</a:t>
            </a:r>
            <a:r>
              <a:rPr lang="hu-HU" sz="1200" b="1" dirty="0"/>
              <a:t> megerősítés:</a:t>
            </a:r>
            <a:r>
              <a:rPr lang="hu-HU" sz="1200" dirty="0"/>
              <a:t> regisztráció után emailben aktiválás</a:t>
            </a:r>
          </a:p>
          <a:p>
            <a:pPr marL="342900" indent="-342900">
              <a:buSzPct val="100000"/>
              <a:buChar char="•"/>
            </a:pPr>
            <a:r>
              <a:rPr lang="it-IT" sz="1200" b="1" dirty="0"/>
              <a:t>2FA:</a:t>
            </a:r>
            <a:r>
              <a:rPr lang="it-IT" sz="1200" dirty="0"/>
              <a:t> mobilappos, 3 számjegyű kód</a:t>
            </a:r>
            <a:endParaRPr lang="hu-HU" sz="1200" dirty="0"/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JWT + </a:t>
            </a:r>
            <a:r>
              <a:rPr lang="hu-HU" sz="1200" b="1" dirty="0" err="1"/>
              <a:t>Redis</a:t>
            </a:r>
            <a:r>
              <a:rPr lang="hu-HU" sz="1200" b="1" dirty="0"/>
              <a:t>:</a:t>
            </a:r>
            <a:r>
              <a:rPr lang="hu-HU" sz="1200" dirty="0"/>
              <a:t> biztonságos munkamenet-kezelés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bcrypt</a:t>
            </a:r>
            <a:r>
              <a:rPr lang="hu-HU" sz="1200" b="1" dirty="0"/>
              <a:t> (12):</a:t>
            </a:r>
            <a:r>
              <a:rPr lang="hu-HU" sz="1200" dirty="0"/>
              <a:t> erős jelszótitkosítás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CSRF védelem:</a:t>
            </a:r>
            <a:r>
              <a:rPr lang="hu-HU" sz="1200" dirty="0"/>
              <a:t> biztonsági </a:t>
            </a:r>
            <a:r>
              <a:rPr lang="hu-HU" sz="1200" dirty="0" err="1"/>
              <a:t>token</a:t>
            </a:r>
            <a:r>
              <a:rPr lang="hu-HU" sz="1200" dirty="0"/>
              <a:t> (30 perc)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Rate</a:t>
            </a:r>
            <a:r>
              <a:rPr lang="hu-HU" sz="1200" b="1" dirty="0"/>
              <a:t> limiting:</a:t>
            </a:r>
            <a:r>
              <a:rPr lang="hu-HU" sz="1200" dirty="0"/>
              <a:t> próbálkozások korlátozása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Tiltások:</a:t>
            </a:r>
            <a:r>
              <a:rPr lang="hu-HU" sz="1200" dirty="0"/>
              <a:t> eldobható email + gyenge jelszavak szűrése</a:t>
            </a:r>
          </a:p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C8282E6E-AF96-AA82-23B6-540DB974F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658368"/>
            <a:ext cx="3057100" cy="438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7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Hiteles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315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solidFill>
            <a:srgbClr val="F8F0EC"/>
          </a:solidFill>
          <a:ln w="190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800600" y="749808"/>
            <a:ext cx="4023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06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Kepernyo kep: 2FA form / Email megerosites</a:t>
            </a:r>
            <a:endParaRPr lang="en-US" sz="105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3808D55D-F31E-A6AE-8EA4-315F5727A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49" y="943978"/>
            <a:ext cx="3909350" cy="377218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E041420D-E866-F4BD-5355-B91AA7201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858" y="1054684"/>
            <a:ext cx="3762102" cy="3521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rendszer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adatmodell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" y="1152144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/>
              <a:t>Felhasználói funkciók:</a:t>
            </a:r>
            <a:r>
              <a:rPr lang="hu-HU" sz="1200" dirty="0"/>
              <a:t> allergén szűrés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Szabályok &amp; védelem:</a:t>
            </a:r>
            <a:r>
              <a:rPr lang="hu-HU" sz="1200" dirty="0"/>
              <a:t> trágárság szűrés, editor tiltás</a:t>
            </a:r>
            <a:endParaRPr lang="hu-HU" sz="1200" b="1" dirty="0"/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Dinamikus menü:</a:t>
            </a:r>
            <a:r>
              <a:rPr lang="hu-HU" sz="1200" dirty="0"/>
              <a:t> kategóriák + napi menü (időalapú)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Készletkezelés:</a:t>
            </a:r>
            <a:r>
              <a:rPr lang="hu-HU" sz="1200" dirty="0"/>
              <a:t> valós idejű frissítés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Rendelés azonosítás:</a:t>
            </a:r>
            <a:r>
              <a:rPr lang="hu-HU" sz="1200" dirty="0"/>
              <a:t> 6 karakteres </a:t>
            </a:r>
            <a:r>
              <a:rPr lang="en-GB" sz="1200" dirty="0" err="1"/>
              <a:t>publikus</a:t>
            </a:r>
            <a:r>
              <a:rPr lang="en-GB" sz="1200" dirty="0"/>
              <a:t> </a:t>
            </a:r>
            <a:r>
              <a:rPr lang="hu-HU" sz="1200" dirty="0"/>
              <a:t>ID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Rendelés logika:</a:t>
            </a:r>
            <a:r>
              <a:rPr lang="hu-HU" sz="1200" dirty="0"/>
              <a:t> 15 perc </a:t>
            </a:r>
            <a:r>
              <a:rPr lang="hu-HU" sz="1200" dirty="0" err="1"/>
              <a:t>auto</a:t>
            </a:r>
            <a:r>
              <a:rPr lang="hu-HU" sz="1200" dirty="0"/>
              <a:t>-lemondás + célfelhasználó kezelés</a:t>
            </a:r>
          </a:p>
        </p:txBody>
      </p:sp>
      <p:sp>
        <p:nvSpPr>
          <p:cNvPr id="9" name="Text 7"/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5C4C96B6-D5B1-27F2-117C-677586C2C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962" y="1152144"/>
            <a:ext cx="496241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es Lua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szkriptek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műveletek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gyorsit</a:t>
            </a:r>
            <a:r>
              <a:rPr lang="hu-HU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ótá</a:t>
            </a:r>
            <a:r>
              <a:rPr lang="en-US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</a:t>
            </a:r>
            <a:r>
              <a:rPr lang="hu-HU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Redis-first cache API v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aszokhoz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(cacheResult MW)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 szkriptek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rca-friss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Redis Lua cs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ablak</a:t>
            </a:r>
            <a:r>
              <a:rPr lang="hu-HU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stream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</a:t>
            </a:r>
            <a:r>
              <a:rPr lang="hu-H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cache-ervenytelenites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keepAliveTimeout: 65000ms (AWS ALB felett)</a:t>
            </a:r>
            <a:endParaRPr lang="en-US" sz="1100" dirty="0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6792976D-86E9-DC64-5B4F-1D080C8A6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918" y="530352"/>
            <a:ext cx="4450082" cy="3261762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E72651C7-9ABE-919A-F659-BE4FAC1BF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3" y="3081516"/>
            <a:ext cx="3826234" cy="20254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9154C-708B-9E9B-63E1-A2A42C161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749121-30E0-1615-4A9B-8805EAB13769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02870A-2E97-EB4C-6179-B63D77F58EC2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6C4A41-5BBE-77DC-F1CE-C671433AA8DC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8574EB-FCD8-A985-B370-57567E33BDE0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D7E7F1-91B2-7A8D-6EC7-09C8312CD1E6}"/>
              </a:ext>
            </a:extLst>
          </p:cNvPr>
          <p:cNvSpPr/>
          <p:nvPr/>
        </p:nvSpPr>
        <p:spPr>
          <a:xfrm>
            <a:off x="320040" y="1152144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BDAF11-BAF1-BEAA-8E10-59FD092F5981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8966B0-89E2-A8CB-1431-8101EFF0C0A3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F7FA55F0-ED89-BACC-576D-4DE05B30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81" y="722376"/>
            <a:ext cx="6973078" cy="438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4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hu-HU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MongoDB </a:t>
            </a:r>
            <a:r>
              <a:rPr lang="en-US" sz="13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kollekciók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38912" y="114300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14300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egyenleg,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(ECDH P-256)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1559052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320040" y="1559052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38912" y="155905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155905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telek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szlet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rtekelesek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(be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gyazva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75104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320040" y="1975104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38912" y="197510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197510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NanoID publicID, auto-cancel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91156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320040" y="2391156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38912" y="239115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239115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Tranzakci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k, deviza, audit trail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807208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Shape 21"/>
          <p:cNvSpPr/>
          <p:nvPr/>
        </p:nvSpPr>
        <p:spPr>
          <a:xfrm>
            <a:off x="320040" y="2807208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38912" y="2807208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UserLoyalty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11680" y="28072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Pontok (4-9/$), decay, Bronze-Platinum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223260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Shape 25"/>
          <p:cNvSpPr/>
          <p:nvPr/>
        </p:nvSpPr>
        <p:spPr>
          <a:xfrm>
            <a:off x="320040" y="3223260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38912" y="3223260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Reward/Redemption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322326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ltható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jutalmak,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utal</a:t>
            </a:r>
            <a:r>
              <a:rPr lang="hu-HU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639312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Shape 29"/>
          <p:cNvSpPr/>
          <p:nvPr/>
        </p:nvSpPr>
        <p:spPr>
          <a:xfrm>
            <a:off x="320040" y="3639312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2" name="Text 30"/>
          <p:cNvSpPr/>
          <p:nvPr/>
        </p:nvSpPr>
        <p:spPr>
          <a:xfrm>
            <a:off x="438912" y="363931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MoneyRequest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11680" y="363931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nzkérelem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(pending/approved)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055364"/>
            <a:ext cx="4434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Shape 33"/>
          <p:cNvSpPr/>
          <p:nvPr/>
        </p:nvSpPr>
        <p:spPr>
          <a:xfrm>
            <a:off x="320040" y="4055364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4"/>
          <p:cNvSpPr/>
          <p:nvPr/>
        </p:nvSpPr>
        <p:spPr>
          <a:xfrm>
            <a:off x="438912" y="405536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SecurityLogs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011680" y="405536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nynapl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90 napos TTL, 500/user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471416"/>
            <a:ext cx="4434840" cy="393192"/>
          </a:xfrm>
          <a:prstGeom prst="rect">
            <a:avLst/>
          </a:prstGeom>
          <a:solidFill>
            <a:srgbClr val="FDF6F0"/>
          </a:solidFill>
          <a:ln w="6350">
            <a:solidFill>
              <a:srgbClr val="FFDCC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37"/>
          <p:cNvSpPr/>
          <p:nvPr/>
        </p:nvSpPr>
        <p:spPr>
          <a:xfrm>
            <a:off x="320040" y="4471416"/>
            <a:ext cx="54864" cy="3931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0" name="Text 38"/>
          <p:cNvSpPr/>
          <p:nvPr/>
        </p:nvSpPr>
        <p:spPr>
          <a:xfrm>
            <a:off x="438912" y="4471416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Message+PreKey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011680" y="44714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</a:t>
            </a:r>
            <a:r>
              <a:rPr lang="hu-HU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zenetek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X3DH + Double Ratchet</a:t>
            </a:r>
            <a:endParaRPr lang="en-US" sz="950" dirty="0"/>
          </a:p>
        </p:txBody>
      </p:sp>
      <p:pic>
        <p:nvPicPr>
          <p:cNvPr id="42" name="Image 0" descr="doc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749808"/>
            <a:ext cx="3931920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hu-HU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</a:t>
            </a: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adatmodell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25296"/>
            <a:ext cx="4297680" cy="335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/>
              <a:t>Egyedi azonosítók:</a:t>
            </a:r>
            <a:r>
              <a:rPr lang="hu-HU" sz="1200" dirty="0"/>
              <a:t> </a:t>
            </a:r>
            <a:r>
              <a:rPr lang="hu-HU" sz="1200" dirty="0" err="1"/>
              <a:t>username</a:t>
            </a:r>
            <a:r>
              <a:rPr lang="hu-HU" sz="1200" dirty="0"/>
              <a:t> + email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Szerepkörök:</a:t>
            </a:r>
            <a:r>
              <a:rPr lang="hu-HU" sz="1200" dirty="0"/>
              <a:t> </a:t>
            </a:r>
            <a:r>
              <a:rPr lang="hu-HU" sz="1200" dirty="0" err="1"/>
              <a:t>student</a:t>
            </a:r>
            <a:r>
              <a:rPr lang="hu-HU" sz="1200" dirty="0"/>
              <a:t> / </a:t>
            </a:r>
            <a:r>
              <a:rPr lang="hu-HU" sz="1200" dirty="0" err="1"/>
              <a:t>parent</a:t>
            </a:r>
            <a:r>
              <a:rPr lang="hu-HU" sz="1200" dirty="0"/>
              <a:t> / </a:t>
            </a:r>
            <a:r>
              <a:rPr lang="hu-HU" sz="1200" dirty="0" err="1"/>
              <a:t>admin</a:t>
            </a:r>
            <a:r>
              <a:rPr lang="hu-HU" sz="1200" dirty="0"/>
              <a:t> / editor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Biztonság:</a:t>
            </a:r>
            <a:r>
              <a:rPr lang="hu-HU" sz="1200" dirty="0"/>
              <a:t> </a:t>
            </a:r>
            <a:r>
              <a:rPr lang="hu-HU" sz="1200" dirty="0" err="1"/>
              <a:t>bcrypt</a:t>
            </a:r>
            <a:r>
              <a:rPr lang="hu-HU" sz="1200" dirty="0"/>
              <a:t> jelszó + státuszok (ellenőrzött/tiltott)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Digitális pénztárca:</a:t>
            </a:r>
            <a:r>
              <a:rPr lang="hu-HU" sz="1200" dirty="0"/>
              <a:t> egyenleg, atomi műveletek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Titkosítás (V2):</a:t>
            </a:r>
            <a:r>
              <a:rPr lang="hu-HU" sz="1200" dirty="0"/>
              <a:t> ECDH P-256 kulcs + eszközök (</a:t>
            </a:r>
            <a:r>
              <a:rPr lang="hu-HU" sz="1200" dirty="0" err="1"/>
              <a:t>Signal</a:t>
            </a:r>
            <a:r>
              <a:rPr lang="hu-HU" sz="1200" dirty="0"/>
              <a:t>)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Migráció:</a:t>
            </a:r>
            <a:r>
              <a:rPr lang="hu-HU" sz="1200" dirty="0"/>
              <a:t> régi RSA mezők átmenetileg megmaradnak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2DCEB2FF-47AA-6688-9E1C-A13A725CD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0" y="1225296"/>
            <a:ext cx="4739640" cy="369376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B275C-656B-34E1-9AA8-713921CB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16C7DB-255D-A54F-FDE8-ACE65174B122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75494D-B344-F3D7-09A4-0CB759E26B39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A05576-C19F-8B98-0852-962071D540DE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Egységtesztelés (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-ben)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938E553-29A9-4ECE-5205-88D92553E14C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b="1" dirty="0"/>
              <a:t>Hűségpontok a menzánkban</a:t>
            </a:r>
            <a:endParaRPr lang="en-US" sz="16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E12F63-7F3F-1F60-5410-3DA143548225}"/>
              </a:ext>
            </a:extLst>
          </p:cNvPr>
          <p:cNvSpPr/>
          <p:nvPr/>
        </p:nvSpPr>
        <p:spPr>
          <a:xfrm>
            <a:off x="320040" y="1225296"/>
            <a:ext cx="3837346" cy="335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 err="1"/>
              <a:t>Jest</a:t>
            </a:r>
            <a:r>
              <a:rPr lang="hu-HU" sz="1200" b="1" dirty="0"/>
              <a:t> egységteszt:</a:t>
            </a:r>
            <a:r>
              <a:rPr lang="hu-HU" sz="1200" dirty="0"/>
              <a:t> izolált függvények automatikus tesztelése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ConvertPoints</a:t>
            </a:r>
            <a:r>
              <a:rPr lang="hu-HU" sz="1200" b="1" dirty="0"/>
              <a:t>:</a:t>
            </a:r>
            <a:r>
              <a:rPr lang="hu-HU" sz="1200" dirty="0"/>
              <a:t> hűségpont számítás alap logika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getHealthLevel</a:t>
            </a:r>
            <a:r>
              <a:rPr lang="hu-HU" sz="1200" b="1" dirty="0"/>
              <a:t>:</a:t>
            </a:r>
            <a:r>
              <a:rPr lang="hu-HU" sz="1200" dirty="0"/>
              <a:t> pontszám → kategória (0/1/2)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monthlyFreeDrinkPoints</a:t>
            </a:r>
            <a:r>
              <a:rPr lang="hu-HU" sz="1200" b="1" dirty="0"/>
              <a:t>:</a:t>
            </a:r>
            <a:r>
              <a:rPr lang="hu-HU" sz="1200" dirty="0"/>
              <a:t> </a:t>
            </a:r>
            <a:r>
              <a:rPr lang="hu-HU" sz="1200" dirty="0" err="1"/>
              <a:t>tier</a:t>
            </a:r>
            <a:r>
              <a:rPr lang="hu-HU" sz="1200" dirty="0"/>
              <a:t> alapú jutalompontok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isHolidaySeason</a:t>
            </a:r>
            <a:r>
              <a:rPr lang="hu-HU" sz="1200" b="1" dirty="0"/>
              <a:t>:</a:t>
            </a:r>
            <a:r>
              <a:rPr lang="hu-HU" sz="1200" dirty="0"/>
              <a:t> ünnepi időszak detektálása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Cél:</a:t>
            </a:r>
            <a:r>
              <a:rPr lang="hu-HU" sz="1200" dirty="0"/>
              <a:t> hűségpont rendszer helyes működésének biztosítása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E5670C-E60E-40CF-18BF-DA12288A5143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C76E35-2433-5F7B-A9A6-7BFFECDF5AE1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C79334E0-4753-B185-CC4F-A2847AC3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73" y="847371"/>
            <a:ext cx="4351487" cy="394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57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9C341-FC2D-8538-E76D-794556C2A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1A166A-18E5-51E6-4F51-35F52A1DA911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2F13FF0-BFE2-DC3A-D0E1-62CDBD1B5B49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3071AC-7F89-36B3-2D83-88A6E17E0AA4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Integrációs tesztelés (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-ben)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4D60BD-6257-65BC-0F1F-D5F90651C4EC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600" b="1" dirty="0"/>
              <a:t>Tanár panel</a:t>
            </a:r>
            <a:endParaRPr lang="en-US" sz="16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5D916F-1C8B-12BF-8731-CB4DC5D30DE1}"/>
              </a:ext>
            </a:extLst>
          </p:cNvPr>
          <p:cNvSpPr/>
          <p:nvPr/>
        </p:nvSpPr>
        <p:spPr>
          <a:xfrm>
            <a:off x="320040" y="1225296"/>
            <a:ext cx="4297680" cy="335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 err="1"/>
              <a:t>Role</a:t>
            </a:r>
            <a:r>
              <a:rPr lang="hu-HU" sz="1200" b="1" dirty="0"/>
              <a:t> alapú védelem:</a:t>
            </a:r>
            <a:r>
              <a:rPr lang="hu-HU" sz="1200" dirty="0"/>
              <a:t> csak TEACHER fér hozzá</a:t>
            </a:r>
          </a:p>
          <a:p>
            <a:pPr marL="342900" indent="-342900">
              <a:buSzPct val="100000"/>
              <a:buChar char="•"/>
            </a:pPr>
            <a:r>
              <a:rPr lang="fr-FR" sz="1200" b="1" dirty="0"/>
              <a:t>Session ellenőrzés:</a:t>
            </a:r>
            <a:r>
              <a:rPr lang="fr-FR" sz="1200" dirty="0"/>
              <a:t> user role session-ben</a:t>
            </a:r>
            <a:endParaRPr lang="hu-HU" sz="1200" dirty="0"/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Védett </a:t>
            </a:r>
            <a:r>
              <a:rPr lang="hu-HU" sz="1200" b="1" dirty="0" err="1"/>
              <a:t>route</a:t>
            </a:r>
            <a:r>
              <a:rPr lang="hu-HU" sz="1200" b="1" dirty="0"/>
              <a:t>: </a:t>
            </a:r>
            <a:r>
              <a:rPr lang="hu-HU" sz="1200" dirty="0"/>
              <a:t>/</a:t>
            </a:r>
            <a:r>
              <a:rPr lang="hu-HU" sz="1200" dirty="0" err="1"/>
              <a:t>teacher</a:t>
            </a:r>
            <a:r>
              <a:rPr lang="hu-HU" sz="1200" dirty="0"/>
              <a:t>/</a:t>
            </a:r>
            <a:r>
              <a:rPr lang="hu-HU" sz="1200" dirty="0" err="1"/>
              <a:t>dashboard</a:t>
            </a:r>
            <a:endParaRPr lang="hu-HU" sz="1200" dirty="0"/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Sikeres eset:</a:t>
            </a:r>
            <a:r>
              <a:rPr lang="hu-HU" sz="1200" dirty="0"/>
              <a:t> TEACHER → 200 + adat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Tiltott eset:</a:t>
            </a:r>
            <a:r>
              <a:rPr lang="hu-HU" sz="1200" dirty="0"/>
              <a:t> STUDENT → 403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Cél:</a:t>
            </a:r>
            <a:r>
              <a:rPr lang="hu-HU" sz="1200" dirty="0"/>
              <a:t> jogosultságkezelés tesztelése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9E8520-8285-6226-7875-3C942BCE9F9C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FCB6DF7-0291-4B45-5071-009DBA210C93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404E0906-D8FF-83FC-3157-B2084F578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850392"/>
            <a:ext cx="4251960" cy="402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72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9682A-981E-6FA2-92D4-59E8EF26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4F4A55-C66F-B944-5EB1-14425B26C09F}"/>
              </a:ext>
            </a:extLst>
          </p:cNvPr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7E1787-EBDA-0812-239C-9990EE368675}"/>
              </a:ext>
            </a:extLst>
          </p:cNvPr>
          <p:cNvSpPr/>
          <p:nvPr/>
        </p:nvSpPr>
        <p:spPr>
          <a:xfrm>
            <a:off x="0" y="566928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8EB121-4FE4-C642-5710-FA74EE03A383}"/>
              </a:ext>
            </a:extLst>
          </p:cNvPr>
          <p:cNvSpPr/>
          <p:nvPr/>
        </p:nvSpPr>
        <p:spPr>
          <a:xfrm>
            <a:off x="320040" y="3657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Rendszertesztelés (</a:t>
            </a:r>
            <a:r>
              <a:rPr lang="hu-HU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6D26B0D-7E30-1C6A-E19E-607D62053F24}"/>
              </a:ext>
            </a:extLst>
          </p:cNvPr>
          <p:cNvSpPr/>
          <p:nvPr/>
        </p:nvSpPr>
        <p:spPr>
          <a:xfrm>
            <a:off x="3200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Rendelési folyamat 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4F4C72-94D5-BB58-6356-A44210EDFCB7}"/>
              </a:ext>
            </a:extLst>
          </p:cNvPr>
          <p:cNvSpPr/>
          <p:nvPr/>
        </p:nvSpPr>
        <p:spPr>
          <a:xfrm>
            <a:off x="320040" y="1225296"/>
            <a:ext cx="4297680" cy="3351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hu-HU" sz="1200" b="1" dirty="0"/>
              <a:t>Menü lekérés:</a:t>
            </a:r>
            <a:r>
              <a:rPr lang="hu-HU" sz="1200" dirty="0"/>
              <a:t> API válasz és adatlétezés ellenőrzése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 err="1"/>
              <a:t>Autentikáció</a:t>
            </a:r>
            <a:r>
              <a:rPr lang="hu-HU" sz="1200" b="1" dirty="0"/>
              <a:t>:</a:t>
            </a:r>
            <a:r>
              <a:rPr lang="hu-HU" sz="1200" dirty="0"/>
              <a:t> login szükséges rendeléshez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Rendelés folyamat:</a:t>
            </a:r>
            <a:r>
              <a:rPr lang="hu-HU" sz="1200" dirty="0"/>
              <a:t> kosár → rendelés létrehozás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Backend teszt:</a:t>
            </a:r>
            <a:r>
              <a:rPr lang="hu-HU" sz="1200" dirty="0"/>
              <a:t> HTTP </a:t>
            </a:r>
            <a:r>
              <a:rPr lang="hu-HU" sz="1200" dirty="0" err="1"/>
              <a:t>requestek</a:t>
            </a:r>
            <a:r>
              <a:rPr lang="hu-HU" sz="1200" dirty="0"/>
              <a:t> közvetlen ellenőrzése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Negatív eset:</a:t>
            </a:r>
            <a:r>
              <a:rPr lang="hu-HU" sz="1200" dirty="0"/>
              <a:t> </a:t>
            </a:r>
            <a:r>
              <a:rPr lang="hu-HU" sz="1200" dirty="0" err="1"/>
              <a:t>auth</a:t>
            </a:r>
            <a:r>
              <a:rPr lang="hu-HU" sz="1200" dirty="0"/>
              <a:t> nélküli rendelés elutasítása</a:t>
            </a:r>
          </a:p>
          <a:p>
            <a:pPr marL="342900" indent="-342900">
              <a:buSzPct val="100000"/>
              <a:buChar char="•"/>
            </a:pPr>
            <a:r>
              <a:rPr lang="hu-HU" sz="1200" b="1" dirty="0"/>
              <a:t>Cél:</a:t>
            </a:r>
            <a:r>
              <a:rPr lang="hu-HU" sz="1200" dirty="0"/>
              <a:t> teljes rendelési flow megbízhatóságának biztosítása</a:t>
            </a:r>
          </a:p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76641A-C87F-4A3D-21D9-0F5938ED91B6}"/>
              </a:ext>
            </a:extLst>
          </p:cNvPr>
          <p:cNvSpPr/>
          <p:nvPr/>
        </p:nvSpPr>
        <p:spPr>
          <a:xfrm>
            <a:off x="4846320" y="7589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1E6E424-5CED-47BB-ADF7-C95075AF73F7}"/>
              </a:ext>
            </a:extLst>
          </p:cNvPr>
          <p:cNvSpPr/>
          <p:nvPr/>
        </p:nvSpPr>
        <p:spPr>
          <a:xfrm>
            <a:off x="4846320" y="987552"/>
            <a:ext cx="38862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0AABCD69-E052-9377-DE0D-07064AD30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850392"/>
            <a:ext cx="4206240" cy="409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40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hu-HU" sz="7200" b="1" dirty="0">
                <a:solidFill>
                  <a:srgbClr val="2D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17627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u-HU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Elköszönés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2004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vesen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laszolunk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hu-HU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en-US" sz="18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sekre</a:t>
            </a:r>
            <a:r>
              <a:rPr lang="en-US" sz="18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hu-H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</a:t>
            </a:r>
            <a:r>
              <a:rPr lang="hu-H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r>
              <a:rPr lang="hu-HU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figyelmet!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SnapTray - Iskolai Menza Rendel</a:t>
            </a:r>
            <a:r>
              <a:rPr lang="hu-HU" sz="2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ő</a:t>
            </a:r>
            <a:r>
              <a:rPr lang="en-US" sz="20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20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1783080" y="2834640"/>
            <a:ext cx="5486400" cy="1572768"/>
          </a:xfrm>
          <a:prstGeom prst="rect">
            <a:avLst/>
          </a:prstGeom>
          <a:solidFill>
            <a:srgbClr val="2D2D44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1828800" y="2834640"/>
            <a:ext cx="54864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Kugli</a:t>
            </a: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</a:t>
            </a:r>
            <a:r>
              <a:rPr lang="hu-HU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</a:t>
            </a:r>
            <a:endParaRPr lang="en-US" sz="16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Hargitai Tam</a:t>
            </a:r>
            <a:r>
              <a:rPr lang="hu-HU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 Al</a:t>
            </a:r>
            <a:r>
              <a:rPr lang="hu-HU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</a:t>
            </a:r>
            <a:r>
              <a:rPr lang="en-US" sz="16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Andrea</a:t>
            </a:r>
            <a:endParaRPr lang="en-US" sz="1600" dirty="0">
              <a:ln w="6600">
                <a:solidFill>
                  <a:schemeClr val="accent2"/>
                </a:solidFill>
                <a:prstDash val="solid"/>
              </a:ln>
              <a:solidFill>
                <a:schemeClr val="accent4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4782312"/>
            <a:ext cx="841248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1DBDB2-6D09-405C-99B0-D84720C2BEAF}">
  <we:reference id="wa200007130" version="1.0.0.1" store="hu-HU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1677</Words>
  <Application>Microsoft Office PowerPoint</Application>
  <PresentationFormat>Diavetítés a képernyőre (16:9 oldalarány)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SnapTray</dc:title>
  <dc:subject>PptxGenJS Presentation</dc:subject>
  <dc:creator>SnapTray Team</dc:creator>
  <cp:lastModifiedBy>Bivorz K</cp:lastModifiedBy>
  <cp:revision>74</cp:revision>
  <dcterms:created xsi:type="dcterms:W3CDTF">2026-04-15T19:38:39Z</dcterms:created>
  <dcterms:modified xsi:type="dcterms:W3CDTF">2026-04-19T20:35:13Z</dcterms:modified>
</cp:coreProperties>
</file>