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75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8704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E1E35"/>
          </a:solidFill>
          <a:ln w="12700">
            <a:solidFill>
              <a:srgbClr val="1E1E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0" y="4782312"/>
            <a:ext cx="9144000" cy="3611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SnapTray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320040" y="214884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Iskolai Menza Rendelorendszer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28346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Kugli Balazs  Hargitai Tamas  Peti Aliz Andrea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782312"/>
            <a:ext cx="91440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Tartalom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658368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73152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512064" y="804672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80467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Celunk - A problema bemutatasa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65760" y="159105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Shape 8"/>
          <p:cNvSpPr/>
          <p:nvPr/>
        </p:nvSpPr>
        <p:spPr>
          <a:xfrm>
            <a:off x="365760" y="1591056"/>
            <a:ext cx="73152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512064" y="1591056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1591056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Tervunk - Szerepkorok, funkciok, technologiak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8412480" cy="658368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73152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512064" y="237744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37744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Hogyan dolgoztunk? - Projektszervezes, munkamegosztas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365760" y="316382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6"/>
          <p:cNvSpPr/>
          <p:nvPr/>
        </p:nvSpPr>
        <p:spPr>
          <a:xfrm>
            <a:off x="365760" y="3163824"/>
            <a:ext cx="73152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512064" y="3163824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163824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kesz szoftver - Funkciok es forraskod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365760" y="3950208"/>
            <a:ext cx="8412480" cy="658368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Shape 20"/>
          <p:cNvSpPr/>
          <p:nvPr/>
        </p:nvSpPr>
        <p:spPr>
          <a:xfrm>
            <a:off x="365760" y="3950208"/>
            <a:ext cx="73152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512064" y="395020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395020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Koszonjuk a figyelmet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27432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17627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Celunk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problema bemutatasa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 faj az iskolai etkezesben?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papiralapú rendeles lassu es hibakkal teli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szulok nem kovethetik gyermekuk etkezesei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Keszletgazdalkodas manualis, idoigenyes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Nincs atlathato fizetesi folyamat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Adminisztratorok nehezkes statisztikalemzese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Allergeninformaciok nehezen elerhetok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0" y="749808"/>
            <a:ext cx="3154680" cy="1417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5669280" y="749808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38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iskolai etkezesek nem kerul</a:t>
            </a:r>
            <a:endParaRPr lang="en-US" sz="38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felhasznalasra - tervezes hianya miatt*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669280" y="2286000"/>
            <a:ext cx="3154680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5669280" y="2286000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digitalis, valos ideju</a:t>
            </a:r>
            <a:endParaRPr lang="en-US" sz="38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rendeleskovetes a SnapTray-jel</a:t>
            </a:r>
            <a:endParaRPr lang="en-US" sz="3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megoldas - SnapTray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Webalapú menza-rendelorendszer iskolai kornyezetbe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399032"/>
            <a:ext cx="2807208" cy="1389888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320040" y="1399032"/>
            <a:ext cx="73152" cy="13898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84632" y="149047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Biztonsagos hitelesites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632" y="194767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 2FA (Dioxus)  email-ellenorzes  bcrypt  CSRF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1399032"/>
            <a:ext cx="2807208" cy="1389888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/>
          <p:cNvSpPr/>
          <p:nvPr/>
        </p:nvSpPr>
        <p:spPr>
          <a:xfrm>
            <a:off x="3264408" y="1399032"/>
            <a:ext cx="73152" cy="13898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3429000" y="149047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 menukezeles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29000" y="194767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kod  allergenek  napi menu  keszletkovetes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08776" y="1399032"/>
            <a:ext cx="2807208" cy="1389888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Shape 13"/>
          <p:cNvSpPr/>
          <p:nvPr/>
        </p:nvSpPr>
        <p:spPr>
          <a:xfrm>
            <a:off x="6208776" y="1399032"/>
            <a:ext cx="73152" cy="13898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6373368" y="149047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Fizetesi integracio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73368" y="194767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SDK  Google Pay  penztalca  MongoDB tranzakciok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953512"/>
            <a:ext cx="2807208" cy="1389888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7"/>
          <p:cNvSpPr/>
          <p:nvPr/>
        </p:nvSpPr>
        <p:spPr>
          <a:xfrm>
            <a:off x="320040" y="2953512"/>
            <a:ext cx="73152" cy="13898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484632" y="304495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es Editor dashboard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" y="350215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Menukezeles  statisztikak (simple-statistics)  naplok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4408" y="2953512"/>
            <a:ext cx="2807208" cy="1389888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Shape 21"/>
          <p:cNvSpPr/>
          <p:nvPr/>
        </p:nvSpPr>
        <p:spPr>
          <a:xfrm>
            <a:off x="3264408" y="2953512"/>
            <a:ext cx="73152" cy="13898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3429000" y="304495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E2EE titkositott chat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429000" y="350215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X3DH + Double Ratchet  ECDH P-256  Signal protokoll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08776" y="2953512"/>
            <a:ext cx="2807208" cy="1389888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Shape 25"/>
          <p:cNvSpPr/>
          <p:nvPr/>
        </p:nvSpPr>
        <p:spPr>
          <a:xfrm>
            <a:off x="6208776" y="2953512"/>
            <a:ext cx="73152" cy="13898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6"/>
          <p:cNvSpPr/>
          <p:nvPr/>
        </p:nvSpPr>
        <p:spPr>
          <a:xfrm>
            <a:off x="6373368" y="304495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Husegprogram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73368" y="350215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Pontgyujtes  Bronze-Platinum szintek  decay rendszer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27432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17627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Tervunk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Szerepkorok, funkciok es technologiak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Felhasznaloi szerepkorok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55448" y="749808"/>
            <a:ext cx="2084832" cy="4279392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155448" y="749808"/>
            <a:ext cx="2084832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246888" y="79552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" y="1417320"/>
            <a:ext cx="1901952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bongeszese es rendeles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 penztalca kezelese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Rendelesi elozmeny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Husegpontok gyujtese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Etelek ertekelese (fuzzy)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kodos azonositas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68296" y="749808"/>
            <a:ext cx="2084832" cy="4279392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Shape 8"/>
          <p:cNvSpPr/>
          <p:nvPr/>
        </p:nvSpPr>
        <p:spPr>
          <a:xfrm>
            <a:off x="2368296" y="749808"/>
            <a:ext cx="2084832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2459736" y="79552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Szulo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59736" y="1417320"/>
            <a:ext cx="1901952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Gyermek rendelesek kovetese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Rendeles gyermek nevere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Fizetes szulo egyenlegebol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es Google Pay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Penzatutalaisi kerelem jovahagyas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Tobb gyermek kovetheto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81144" y="749808"/>
            <a:ext cx="2084832" cy="4279392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2"/>
          <p:cNvSpPr/>
          <p:nvPr/>
        </p:nvSpPr>
        <p:spPr>
          <a:xfrm>
            <a:off x="4581144" y="749808"/>
            <a:ext cx="208483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4672584" y="79552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Adminisztrator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72584" y="1417320"/>
            <a:ext cx="1901952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Menuelem kezeles (CRUD)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Rendelesek es statisztikak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Felhasznalok kezelese, tiltasa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 menu osszealliatas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Biztonsagi naplok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simple-statistics elemzesek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93992" y="749808"/>
            <a:ext cx="2084832" cy="4279392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6"/>
          <p:cNvSpPr/>
          <p:nvPr/>
        </p:nvSpPr>
        <p:spPr>
          <a:xfrm>
            <a:off x="6793992" y="749808"/>
            <a:ext cx="2084832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6885432" y="79552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Szerkeszto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5432" y="1417320"/>
            <a:ext cx="1901952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Menuelemek szerkesztese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Leiirasok, arak, allergenek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Keszletszintek kezelese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Rendelesi oldal: CSAK megtekintes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Rendeles leadasa TILTOTT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denyEditorOrderPlacement MW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Technologiak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1463040" cy="40233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402336" y="7680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783080" y="768096"/>
            <a:ext cx="2423160" cy="40233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1865376" y="76809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06240" y="768096"/>
            <a:ext cx="4389120" cy="40233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4288536" y="76809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170432"/>
            <a:ext cx="146304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393192" y="1170432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83080" y="1170432"/>
            <a:ext cx="242316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1856232" y="1170432"/>
            <a:ext cx="2331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06240" y="1170432"/>
            <a:ext cx="438912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4279392" y="1170432"/>
            <a:ext cx="4297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Egysegles JS full-stack, esemenyalapu I/O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170432"/>
            <a:ext cx="45720" cy="4526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6"/>
          <p:cNvSpPr/>
          <p:nvPr/>
        </p:nvSpPr>
        <p:spPr>
          <a:xfrm>
            <a:off x="320040" y="1623060"/>
            <a:ext cx="146304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393192" y="1623060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Adatbazis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83080" y="1623060"/>
            <a:ext cx="242316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1856232" y="1623060"/>
            <a:ext cx="2331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06240" y="1623060"/>
            <a:ext cx="438912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4279392" y="1623060"/>
            <a:ext cx="4297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Rugalmas NoSQL dokumentummodell, skalazható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075688"/>
            <a:ext cx="146304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393192" y="2075688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783080" y="2075688"/>
            <a:ext cx="242316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/>
          <p:nvPr/>
        </p:nvSpPr>
        <p:spPr>
          <a:xfrm>
            <a:off x="1856232" y="2075688"/>
            <a:ext cx="2331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Lua szkriptek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06240" y="2075688"/>
            <a:ext cx="438912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Text 27"/>
          <p:cNvSpPr/>
          <p:nvPr/>
        </p:nvSpPr>
        <p:spPr>
          <a:xfrm>
            <a:off x="4279392" y="2075688"/>
            <a:ext cx="4297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 muveletek, rate limiting, session tárolás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2075688"/>
            <a:ext cx="45720" cy="4526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Shape 29"/>
          <p:cNvSpPr/>
          <p:nvPr/>
        </p:nvSpPr>
        <p:spPr>
          <a:xfrm>
            <a:off x="320040" y="2528316"/>
            <a:ext cx="146304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2" name="Text 30"/>
          <p:cNvSpPr/>
          <p:nvPr/>
        </p:nvSpPr>
        <p:spPr>
          <a:xfrm>
            <a:off x="393192" y="2528316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783080" y="2528316"/>
            <a:ext cx="242316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Text 32"/>
          <p:cNvSpPr/>
          <p:nvPr/>
        </p:nvSpPr>
        <p:spPr>
          <a:xfrm>
            <a:off x="1856232" y="2528316"/>
            <a:ext cx="2331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 CSS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06240" y="2528316"/>
            <a:ext cx="438912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6" name="Text 34"/>
          <p:cNvSpPr/>
          <p:nvPr/>
        </p:nvSpPr>
        <p:spPr>
          <a:xfrm>
            <a:off x="4279392" y="2528316"/>
            <a:ext cx="4297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Komponens-alapu UI, reszponzív design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2980944"/>
            <a:ext cx="146304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8" name="Text 36"/>
          <p:cNvSpPr/>
          <p:nvPr/>
        </p:nvSpPr>
        <p:spPr>
          <a:xfrm>
            <a:off x="393192" y="2980944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Hitelesites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783080" y="2980944"/>
            <a:ext cx="242316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0" name="Text 38"/>
          <p:cNvSpPr/>
          <p:nvPr/>
        </p:nvSpPr>
        <p:spPr>
          <a:xfrm>
            <a:off x="1856232" y="2980944"/>
            <a:ext cx="2331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+ 2FA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206240" y="2980944"/>
            <a:ext cx="438912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2" name="Text 40"/>
          <p:cNvSpPr/>
          <p:nvPr/>
        </p:nvSpPr>
        <p:spPr>
          <a:xfrm>
            <a:off x="4279392" y="2980944"/>
            <a:ext cx="4297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Token-alapu auth, jelszohash, Dioxus 2FA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0040" y="2980944"/>
            <a:ext cx="45720" cy="4526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4" name="Shape 42"/>
          <p:cNvSpPr/>
          <p:nvPr/>
        </p:nvSpPr>
        <p:spPr>
          <a:xfrm>
            <a:off x="320040" y="3433572"/>
            <a:ext cx="146304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5" name="Text 43"/>
          <p:cNvSpPr/>
          <p:nvPr/>
        </p:nvSpPr>
        <p:spPr>
          <a:xfrm>
            <a:off x="393192" y="3433572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Fizetes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783080" y="3433572"/>
            <a:ext cx="242316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7" name="Text 45"/>
          <p:cNvSpPr/>
          <p:nvPr/>
        </p:nvSpPr>
        <p:spPr>
          <a:xfrm>
            <a:off x="1856232" y="3433572"/>
            <a:ext cx="2331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SDK + Google Pay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206240" y="3433572"/>
            <a:ext cx="438912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9" name="Text 47"/>
          <p:cNvSpPr/>
          <p:nvPr/>
        </p:nvSpPr>
        <p:spPr>
          <a:xfrm>
            <a:off x="4279392" y="3433572"/>
            <a:ext cx="4297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PCI-kompatibilis, atomi MongoDB tranzakciók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3886200"/>
            <a:ext cx="146304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1" name="Text 49"/>
          <p:cNvSpPr/>
          <p:nvPr/>
        </p:nvSpPr>
        <p:spPr>
          <a:xfrm>
            <a:off x="393192" y="3886200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Valos ido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783080" y="3886200"/>
            <a:ext cx="242316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3" name="Text 51"/>
          <p:cNvSpPr/>
          <p:nvPr/>
        </p:nvSpPr>
        <p:spPr>
          <a:xfrm>
            <a:off x="1856232" y="3886200"/>
            <a:ext cx="2331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+ Change Streams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206240" y="3886200"/>
            <a:ext cx="438912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5" name="Text 53"/>
          <p:cNvSpPr/>
          <p:nvPr/>
        </p:nvSpPr>
        <p:spPr>
          <a:xfrm>
            <a:off x="4279392" y="3886200"/>
            <a:ext cx="4297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Ketiranyú komm., MongoDB change stream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" y="3886200"/>
            <a:ext cx="45720" cy="4526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7" name="Shape 55"/>
          <p:cNvSpPr/>
          <p:nvPr/>
        </p:nvSpPr>
        <p:spPr>
          <a:xfrm>
            <a:off x="320040" y="4338828"/>
            <a:ext cx="146304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8" name="Text 56"/>
          <p:cNvSpPr/>
          <p:nvPr/>
        </p:nvSpPr>
        <p:spPr>
          <a:xfrm>
            <a:off x="393192" y="4338828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Biztonsag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783080" y="4338828"/>
            <a:ext cx="242316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0" name="Text 58"/>
          <p:cNvSpPr/>
          <p:nvPr/>
        </p:nvSpPr>
        <p:spPr>
          <a:xfrm>
            <a:off x="1856232" y="4338828"/>
            <a:ext cx="2331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HPP, CORS, zxcvbn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206240" y="4338828"/>
            <a:ext cx="438912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2" name="Text 60"/>
          <p:cNvSpPr/>
          <p:nvPr/>
        </p:nvSpPr>
        <p:spPr>
          <a:xfrm>
            <a:off x="4279392" y="4338828"/>
            <a:ext cx="4297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fejlecek, CSRF, XSS, jelszóerosseg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27432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17627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Hogyan dolgoztunk?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Projektszervezes es munkamegosztas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Projektszervezes - Gantt-diagram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Fejlesztesi fazisok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152144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Fazisok es hatarideok Gantt-diagrammal tervezve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Heti merseklovek es sprint-hatarok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Egymasra epulo fazisok: backend =&gt; frontend =&gt; integracio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 fazisok: terv -&gt; backend -&gt; frontend -&gt; teszt -&gt; elesites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" y="2715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56201" y="2715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674658" y="2715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393115" y="2715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111573" y="2715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830030" y="2715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48487" y="2715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266944" y="2715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1077686" cy="32918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411480" y="2971800"/>
            <a:ext cx="10319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Tervezes &amp; architektura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227909" y="3364992"/>
            <a:ext cx="2514600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1273629" y="33649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fejlesztes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161903" y="3758184"/>
            <a:ext cx="201168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2207623" y="375818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fejlesztes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98817" y="4151376"/>
            <a:ext cx="1293223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3644537" y="4151376"/>
            <a:ext cx="12475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Teszteles &amp; hibajavitas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317274" y="4544568"/>
            <a:ext cx="862149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4362994" y="4544568"/>
            <a:ext cx="8164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Dokumentacio &amp; elesites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532120" y="749808"/>
            <a:ext cx="3291840" cy="4187952"/>
          </a:xfrm>
          <a:prstGeom prst="rect">
            <a:avLst/>
          </a:prstGeom>
          <a:solidFill>
            <a:srgbClr val="F8F0EC"/>
          </a:solidFill>
          <a:ln w="190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6" name="Text 24"/>
          <p:cNvSpPr/>
          <p:nvPr/>
        </p:nvSpPr>
        <p:spPr>
          <a:xfrm>
            <a:off x="5532120" y="749808"/>
            <a:ext cx="329184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Gantt-diagram kepernyo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illesszd be a projekttervezo eszkoz kepet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Munkamegosztas - Ki, mit csinalt?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2852928" cy="4279392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2852928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338328" y="78638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Kugli Balazs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1155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Frontend  Caching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" y="1499616"/>
            <a:ext cx="2633472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Node.js/Express.js szerver architektura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adatbazis modellezese (Mongoose)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+ Lua szkriptek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vegpontok implementalasa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komponensek fejlesztese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+ 2FA hitelesitesi rendszer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es Google Pay integracio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E2EE chat (Signal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protokoll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animaciok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atmenetek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testreszabas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Felhasználói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felület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tervezes</a:t>
            </a:r>
            <a:endParaRPr lang="en-US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Reszponziv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nezet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27832" y="749808"/>
            <a:ext cx="2852928" cy="4279392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11" name="Shape 9"/>
          <p:cNvSpPr/>
          <p:nvPr/>
        </p:nvSpPr>
        <p:spPr>
          <a:xfrm>
            <a:off x="3227832" y="749808"/>
            <a:ext cx="2852928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3337560" y="78638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Hargitai Tamas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1155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Teszteles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37560" y="1499616"/>
            <a:ext cx="2633472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Egyseg- es integracios tesztek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end-to-end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0488" y="749808"/>
            <a:ext cx="2852928" cy="4279392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Shape 14"/>
          <p:cNvSpPr/>
          <p:nvPr/>
        </p:nvSpPr>
        <p:spPr>
          <a:xfrm>
            <a:off x="6227064" y="749808"/>
            <a:ext cx="285292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6336792" y="78638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 Aliz Andrea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36792" y="11155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 Dark Mode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36792" y="1499616"/>
            <a:ext cx="2633472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implementacio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/>
              <a:t>Teacher dashboard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27432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17627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kesz szoftver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Funkciok, forraskod es kepernyo kepek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Hitelesites es Biztonsag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Tobbretegu biztonsagi architektura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9768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Email-alapu fiokellenszes (SendGrid)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- Dioxus mobil app (veletlen 3 szam)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+ Redis session tarolas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jelszohasheles (cost factor 12)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CSRF: double-submit cookie (XSRF-TOKEN, 30 perc)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5 retegben (utvonanankent)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35 kiszert./15 perc (RedisStore)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IP hasheles (GDPR 32. cikk)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Eldobhato email bl. + jelszo tiltolista (zxcvbn)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Anti-enumeracio (HTTP 200 meglévo fioknál is)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SecurityLogs: 90 nap TTL + 500/user cap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749808"/>
            <a:ext cx="4069080" cy="418795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4754880" y="749808"/>
            <a:ext cx="4069080" cy="20116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4846320" y="758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846320" y="987552"/>
            <a:ext cx="388620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src/middleware/security.js
</a:t>
            </a:r>
            <a:r>
              <a:rPr lang="en-US" sz="8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LoginLimiter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rateLimit({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windowMs: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8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8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// 15 perc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max: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store: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RedisStore({ client }),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handler: (req, res) =&gt;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429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).sendFile(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'public/429/429.html'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
  }
});
</a:t>
            </a: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CSRF double-submit cookie
</a:t>
            </a:r>
            <a:r>
              <a:rPr lang="en-US" sz="8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8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crypto.randomBytes(</a:t>
            </a:r>
            <a:r>
              <a:rPr lang="en-US" sz="8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).toString(</a:t>
            </a:r>
            <a:r>
              <a:rPr lang="en-US" sz="80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'hex'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
</a:t>
            </a: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.cookie(</a:t>
            </a:r>
            <a:r>
              <a:rPr lang="en-US" sz="80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'XSRF-TOKEN'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tok, { httpOnly: </a:t>
            </a:r>
            <a:r>
              <a:rPr lang="en-US" sz="8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sameSite: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'Strict'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secure: </a:t>
            </a:r>
            <a:r>
              <a:rPr lang="en-US" sz="8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maxAge: </a:t>
            </a:r>
            <a:r>
              <a:rPr lang="en-US" sz="8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1800000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
</a:t>
            </a: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IP hash (GDPR 32. cikk)
</a:t>
            </a:r>
            <a:r>
              <a:rPr lang="en-US" sz="8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hashedIp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crypto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.createHmac(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'sha256'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process.env.IP_HASH_SECRET)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.update(clientIp).digest(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'hex'</a:t>
            </a: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Hitelesites - Kepernyo kepek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solidFill>
            <a:srgbClr val="F8F0EC"/>
          </a:solidFill>
          <a:ln w="190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Kepernyo kep: Bejelentkezesi oldal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solidFill>
            <a:srgbClr val="F8F0EC"/>
          </a:solidFill>
          <a:ln w="190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Kepernyo kep: 2FA form / Email megerosites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es Lua szkriptek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 muveletek es gyorsito tarazas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Redis-first cache API valaszhoz (cacheResult MW)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 szkriptek atomi penztalca-frissiteshez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NOSCRIPT fallback (EVALSHA =&gt; EVAL)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Redis Lua csuszoablak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kodok idoleges tarolasa (TTL: 10 perc)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E2EE pubkey cache (e2ee:pubkey:{id}, 30 nap)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change stream ervenytelenites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keepAliveTimeout: 65000ms (AWS ALB felett)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49808"/>
            <a:ext cx="4069080" cy="418795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4754880" y="749808"/>
            <a:ext cx="4069080" cy="20116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4846320" y="758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846320" y="987552"/>
            <a:ext cx="388620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src/redis-lua.js
</a:t>
            </a:r>
            <a:r>
              <a:rPr lang="en-US" sz="78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</a:t>
            </a:r>
            <a:r>
              <a:rPr lang="en-US" sz="78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executeScript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(name, numKeys, args)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sha, script }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this.scripts.get(name);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await this.client.evalSha(sha,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keys: args.slice(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numKeys),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arguments: args.slice(numKeys) });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(e)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(e.message.includes(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'NOSCRIPT'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await this.client.eval(script,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keys: args.slice(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numKeys),
        arguments: args.slice(numKeys) });
    throw e;
  }
}
</a:t>
            </a:r>
            <a:r>
              <a:rPr lang="en-US" sz="7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wallet_update.lua
</a:t>
            </a:r>
            <a:r>
              <a:rPr lang="en-US" sz="78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</a:t>
            </a:r>
            <a:r>
              <a:rPr lang="en-US" sz="78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tonumber(redis.call('GET', KEYS[</a:t>
            </a:r>
            <a:r>
              <a:rPr lang="en-US" sz="78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or '0')
</a:t>
            </a:r>
            <a:r>
              <a:rPr lang="en-US" sz="78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 + tonumber(ARGV[</a:t>
            </a:r>
            <a:r>
              <a:rPr lang="en-US" sz="78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&lt; </a:t>
            </a:r>
            <a:r>
              <a:rPr lang="en-US" sz="78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then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redis.error_reply(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'INSUFFICIENT_FUNDS'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end
redis.call('SET', KEYS[1], tostring(bal + tonumber(ARGV[1])))</a:t>
            </a:r>
            <a:endParaRPr lang="en-US" sz="7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- Kepernyo kepek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solidFill>
            <a:srgbClr val="F8F0EC"/>
          </a:solidFill>
          <a:ln w="190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Kepernyo kep: Redis monitor / Lua debug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solidFill>
            <a:srgbClr val="F8F0EC"/>
          </a:solidFill>
          <a:ln w="190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Kepernyo kep: Cache dashboard / session store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Rendelesi rendszer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Funkciok es adatmodell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976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Dinamikus menukezeles kategoraikkal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Valos ideju keszletkovetes (pre-save hook)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kod integracio + allergen szuro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 menu ($sample fallback, idoszak-alapu)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NanoID 6-kar. kozos rendelesazonosito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perces auto-lemondas (Pending =&gt; Cancelled)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profanity szuro (ertekelesokhoz, Lev. &lt;=1)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Editor: TILTOTT rendeles (isEditor prop)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Szulo: resolveOrderTargetUserId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749808"/>
            <a:ext cx="4069080" cy="418795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4754880" y="749808"/>
            <a:ext cx="4069080" cy="20116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4846320" y="758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846320" y="987552"/>
            <a:ext cx="388620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config/database_queries.js
</a:t>
            </a:r>
            <a:r>
              <a:rPr lang="en-US" sz="78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780" dirty="0">
                <a:solidFill>
                  <a:srgbClr val="FFE5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OrderSchema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new Schema({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ObjectId,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publicID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String,  </a:t>
            </a:r>
            <a:r>
              <a:rPr lang="en-US" sz="7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nanoid(), 6 kar.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type: String,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enum: [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'Pending'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78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'Completed'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78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'Cancelled'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paymentMethod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orderDate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type: Date,
    default: Date.now },
});
</a:t>
            </a:r>
            <a:r>
              <a:rPr lang="en-US" sz="7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Pre-save: 15 perces auto-lemondas
</a:t>
            </a:r>
            <a:r>
              <a:rPr lang="en-US" sz="780" dirty="0">
                <a:solidFill>
                  <a:srgbClr val="FFE5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OrderSchema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.pre(</a:t>
            </a:r>
            <a:r>
              <a:rPr lang="en-US" sz="78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'save'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function ()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Date.now() - this.orderDate;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(age &gt; </a:t>
            </a:r>
            <a:r>
              <a:rPr lang="en-US" sz="78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78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60_000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&amp;&amp; this.status ===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'Pending'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this.status =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'Cancelled'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7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tiltas es Szulo -&gt; Diak rendeles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Szerepkor-alapu rendelesvedelem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97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denyEditorOrderPlacement - POST rendelesi vegpontokon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fiok: 403 Forbidden, rendeles megtagadva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resolveOrderTargetUserId - szuloi belepesnel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ParentStudent kapcsolat (status: approved)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Rendeles gyermek nevere, leval szulo egyenlegbol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withTransaction() - atomi 3-lepesu folyamat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49808"/>
            <a:ext cx="4069080" cy="418795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4754880" y="749808"/>
            <a:ext cx="4069080" cy="20116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4846320" y="758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846320" y="987552"/>
            <a:ext cx="388620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src/auth/middleware.js
</a:t>
            </a: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7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denyEditorOrderPlacement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(req, res, next) =&gt;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(isEditorUser(req))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).json({ error: </a:t>
            </a:r>
            <a:r>
              <a:rPr lang="en-US" sz="75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'Forbidden'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
  next();
};
</a:t>
            </a: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Szulo -&gt; Diak feloldas
</a:t>
            </a: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7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resolveOrderTargetUserId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async (req, userId) =&gt;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(!isParentUser(req)) return userId;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link = await ParentStudent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.findOne({ parentId: userId,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studentId,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status: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'approved'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}).lean();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(!link) throw errorWith(</a:t>
            </a:r>
            <a:r>
              <a:rPr lang="en-US" sz="7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
  return studentId;
};
</a:t>
            </a: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Atomi fizetes
</a:t>
            </a: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session.withTransaction(async () =&gt;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payer.balance -= totalInUSD;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payer.save({ session });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Order.create([orderDoc], { session });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deductStock(items, session);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Rendelesi rendszer - Kepernyo kepek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solidFill>
            <a:srgbClr val="F8F0EC"/>
          </a:solidFill>
          <a:ln w="190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Kepernyo kep: Rendelesi oldal / kosar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solidFill>
            <a:srgbClr val="F8F0EC"/>
          </a:solidFill>
          <a:ln w="190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Kepernyo kep: Mobil nezet / napi menu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Fizetesi integracio - PayPal es Google Pay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Fizetesi megoldasok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SDK (@paypal/paypal-server-sdk)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Pay API integracio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 penztalca egyenleg rendszer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withTransaction() atomi fizetes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Devizakonverzio: HUF x0.0027, EUR x1.1 (USD)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Idempotens keresek (transactionId unique index)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body tarol (webhook alairas-ellenorzes)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minden penzugyi esemenynel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49808"/>
            <a:ext cx="4069080" cy="418795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4754880" y="749808"/>
            <a:ext cx="4069080" cy="20116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4846320" y="758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846320" y="987552"/>
            <a:ext cx="388620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src/payments/paypal.js
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</a:t>
            </a:r>
            <a:r>
              <a:rPr lang="en-US" sz="78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'/paypal'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async (req, res) =&gt;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orderID, amount, currency }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req.body;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Payment.create({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userId, amount: parseFloat(amount),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currency: currency ||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'USD'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paymentMethod: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'PayPal'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'Completed'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    transactionId: orderID,
  });
});
</a:t>
            </a:r>
            <a:r>
              <a:rPr lang="en-US" sz="7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Devizakonverzio
</a:t>
            </a:r>
            <a:r>
              <a:rPr lang="en-US" sz="78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780" dirty="0">
                <a:solidFill>
                  <a:srgbClr val="FFE5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RATES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 HUF: </a:t>
            </a:r>
            <a:r>
              <a:rPr lang="en-US" sz="78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0.0027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EUR: </a:t>
            </a:r>
            <a:r>
              <a:rPr lang="en-US" sz="78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USD: </a:t>
            </a:r>
            <a:r>
              <a:rPr lang="en-US" sz="78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};
</a:t>
            </a:r>
            <a:r>
              <a:rPr lang="en-US" sz="78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78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convertCurrencyToUSD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(amt, curr) =&gt;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amt * (RATES[curr] ??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Fizetesi integracio - Kepernyo kepek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solidFill>
            <a:srgbClr val="F8F0EC"/>
          </a:solidFill>
          <a:ln w="190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Kepernyo kep: PayPal checkout oldal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solidFill>
            <a:srgbClr val="F8F0EC"/>
          </a:solidFill>
          <a:ln w="190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Kepernyo kep: Google Pay / Penztalca egyenleg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es Editor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Adminisztratori funkciok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976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Menuelem CRUD + Jutalmak (Reward) kezelese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Statisztikak: mean/median/stddev (simple-statistics)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legrendeltebb etel (all-time es utolso 7 nap)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Felhasznalok tiltasa es szerepkor-valtas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SecurityLogs: 90 nap TTL + 500/user cap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cacheResult() transparens GET cache MW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requireAdmin/Editor/Student/ParentAuth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403: no_perm.html redirect (nem JSON)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49808"/>
            <a:ext cx="4069080" cy="418795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4754880" y="749808"/>
            <a:ext cx="4069080" cy="20116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4846320" y="758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846320" y="987552"/>
            <a:ext cx="388620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cache-service.js
</a:t>
            </a: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r>
              <a:rPr lang="en-US" sz="7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cacheResult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(key, ttl = </a:t>
            </a:r>
            <a:r>
              <a:rPr lang="en-US" sz="7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async (req, res, next) =&gt;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(req.method !== </a:t>
            </a:r>
            <a:r>
              <a:rPr lang="en-US" sz="75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'GET'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return next();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cached = await redis.get(key);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(cached) return res.status(</a:t>
            </a:r>
            <a:r>
              <a:rPr lang="en-US" sz="7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).json(JSON.parse(cached));
    const orig = res.json.bind(res);
    res.json = (data) =&gt; {
      redis.setEx(key, ttl, JSON.stringify(data));
      return orig(data);
    };
    next();
  };
}
</a:t>
            </a: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simple-statistics
</a:t>
            </a: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7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await User.find({}, 'createdAt').lean();
</a:t>
            </a: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mean: ss.mean(ts), median: ss.median(ts),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stddev: ss.standardDeviation(ts) };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- Kepernyo kepek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solidFill>
            <a:srgbClr val="F8F0EC"/>
          </a:solidFill>
          <a:ln w="190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Kepernyo kep: Admin dashboard fooldal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solidFill>
            <a:srgbClr val="F8F0EC"/>
          </a:solidFill>
          <a:ln w="190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Kepernyo kep: Menukezelo / rendelesista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Adatbazis architektura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 MongoDB entitasok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434840" cy="393192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54864" cy="3931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38912" y="1143000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14300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Identitas, egyenleg, eszkozok (ECDH P-256)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559052"/>
            <a:ext cx="4434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/>
          <p:cNvSpPr/>
          <p:nvPr/>
        </p:nvSpPr>
        <p:spPr>
          <a:xfrm>
            <a:off x="320040" y="1559052"/>
            <a:ext cx="54864" cy="3931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438912" y="1559052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MenuItems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1559052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Etelek, keszlet, ertekelesek (beagyazva)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975104"/>
            <a:ext cx="4434840" cy="393192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Shape 13"/>
          <p:cNvSpPr/>
          <p:nvPr/>
        </p:nvSpPr>
        <p:spPr>
          <a:xfrm>
            <a:off x="320040" y="1975104"/>
            <a:ext cx="54864" cy="3931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438912" y="1975104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1975104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Rendelesek, NanoID publicID, auto-cancel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391156"/>
            <a:ext cx="4434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7"/>
          <p:cNvSpPr/>
          <p:nvPr/>
        </p:nvSpPr>
        <p:spPr>
          <a:xfrm>
            <a:off x="320040" y="2391156"/>
            <a:ext cx="54864" cy="3931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438912" y="2391156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2391156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Tranzakciok, deviza, audit trail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807208"/>
            <a:ext cx="4434840" cy="393192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Shape 21"/>
          <p:cNvSpPr/>
          <p:nvPr/>
        </p:nvSpPr>
        <p:spPr>
          <a:xfrm>
            <a:off x="320040" y="2807208"/>
            <a:ext cx="54864" cy="3931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438912" y="2807208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UserLoyalty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11680" y="2807208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Pontok (4-9/$), decay, Bronze-Platinum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223260"/>
            <a:ext cx="4434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Shape 25"/>
          <p:cNvSpPr/>
          <p:nvPr/>
        </p:nvSpPr>
        <p:spPr>
          <a:xfrm>
            <a:off x="320040" y="3223260"/>
            <a:ext cx="54864" cy="3931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6"/>
          <p:cNvSpPr/>
          <p:nvPr/>
        </p:nvSpPr>
        <p:spPr>
          <a:xfrm>
            <a:off x="438912" y="3223260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Reward/Redemption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11680" y="322326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Bevaltható jutalmak, utalonykodok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639312"/>
            <a:ext cx="4434840" cy="393192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Shape 29"/>
          <p:cNvSpPr/>
          <p:nvPr/>
        </p:nvSpPr>
        <p:spPr>
          <a:xfrm>
            <a:off x="320040" y="3639312"/>
            <a:ext cx="54864" cy="3931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2" name="Text 30"/>
          <p:cNvSpPr/>
          <p:nvPr/>
        </p:nvSpPr>
        <p:spPr>
          <a:xfrm>
            <a:off x="438912" y="3639312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MoneyRequest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11680" y="3639312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Diak-Szulo penzkérelem (pending/approved)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4055364"/>
            <a:ext cx="4434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5" name="Shape 33"/>
          <p:cNvSpPr/>
          <p:nvPr/>
        </p:nvSpPr>
        <p:spPr>
          <a:xfrm>
            <a:off x="320040" y="4055364"/>
            <a:ext cx="54864" cy="3931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6" name="Text 34"/>
          <p:cNvSpPr/>
          <p:nvPr/>
        </p:nvSpPr>
        <p:spPr>
          <a:xfrm>
            <a:off x="438912" y="4055364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SecurityLogs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011680" y="4055364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Esemenynaplo, 90 napos TTL, 500/user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4471416"/>
            <a:ext cx="4434840" cy="393192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9" name="Shape 37"/>
          <p:cNvSpPr/>
          <p:nvPr/>
        </p:nvSpPr>
        <p:spPr>
          <a:xfrm>
            <a:off x="320040" y="4471416"/>
            <a:ext cx="54864" cy="3931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0" name="Text 38"/>
          <p:cNvSpPr/>
          <p:nvPr/>
        </p:nvSpPr>
        <p:spPr>
          <a:xfrm>
            <a:off x="438912" y="4471416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Message+PreKey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011680" y="4471416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E2EE uzenetek, X3DH + Double Ratchet</a:t>
            </a:r>
            <a:endParaRPr lang="en-US" sz="950" dirty="0"/>
          </a:p>
        </p:txBody>
      </p:sp>
      <p:pic>
        <p:nvPicPr>
          <p:cNvPr id="42" name="Image 0" descr="doc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749808"/>
            <a:ext cx="3931920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Adatbazis - User sema (ECDH P-256)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Felhasznalo adatmodell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Egyedi username + email (unique index)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usertype: student / parent / admin / editor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jelszo, isVerified + isBanned zaszlok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balance: digitalis penztalca (Lua atomi)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ECDH P-256 nyilvanos kulcs (V2)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devices[]: signedPreKey csomag (Signal)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RSA-OAEP mezok megmaradnak migracioig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49808"/>
            <a:ext cx="4069080" cy="418795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4754880" y="749808"/>
            <a:ext cx="4069080" cy="20116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4846320" y="758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846320" y="987552"/>
            <a:ext cx="388620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src/models/User.js
</a:t>
            </a:r>
            <a:r>
              <a:rPr lang="en-US" sz="78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780" dirty="0">
                <a:solidFill>
                  <a:srgbClr val="FFE5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userSchema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new Schema({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type: String,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unique: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required: </a:t>
            </a:r>
            <a:r>
              <a:rPr lang="en-US" sz="78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usertype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type: String,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'student'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enum: [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78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'student'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78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'parent'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78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'editor'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type: Number, default: </a:t>
            </a:r>
            <a:r>
              <a:rPr lang="en-US" sz="78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V2 E2EE: ECDH P-256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publicKey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   String,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signingPublicKey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[{ </a:t>
            </a:r>
            <a:r>
              <a:rPr lang="en-US" sz="78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deviceId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signedPreKey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Object }],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V1 legacy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encryption</a:t>
            </a: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Mixed,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7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E2EE Chat es Husegprogram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29768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Vegponttol vegpontig titkositott chat (E2EE)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161288"/>
            <a:ext cx="429768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X3DH kulcscsere + Double Ratchet protokoll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ECDH P-256 (V2); V1 RSA-OAEP =&gt; migracio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PreKey bundle: deviceId + signedPreKey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Pubkey Redis cache (e2ee:pubkey:{id}, 30 nap)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StorageBlob + skipped keys tarolasa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999232"/>
            <a:ext cx="429768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411480" y="29992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Husegprogram - Bronze =&gt; Platinum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3419856"/>
            <a:ext cx="429768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4-9 pont/USD; unnepi: x1.5, karacsony: x1.2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Egeszseghszint &gt;=75: +40%, &gt;=50: +20% bonus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Decay: 90 nap inaktivitas =&gt; 50% pontlev. (Plat.: 30%)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 ingyenes ital: Silver:1, Gold:2, Platinum:4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749808"/>
            <a:ext cx="4069080" cy="418795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Shape 10"/>
          <p:cNvSpPr/>
          <p:nvPr/>
        </p:nvSpPr>
        <p:spPr>
          <a:xfrm>
            <a:off x="4754880" y="749808"/>
            <a:ext cx="4069080" cy="20116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4846320" y="758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846320" y="987552"/>
            <a:ext cx="388620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src/LoyaltySystem/loyalty-service.js
</a:t>
            </a: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r>
              <a:rPr lang="en-US" sz="7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ConvertPoints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(amount, tier, healthScore, date)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pts =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(let i = </a:t>
            </a:r>
            <a:r>
              <a:rPr lang="en-US" sz="7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Math.floor(amount); i++)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pts += Math.floor(Math.random() *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</a:t>
            </a:r>
            <a:r>
              <a:rPr lang="en-US" sz="7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4-9 pont/$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(isHoliday(date))       pts *= </a:t>
            </a:r>
            <a:r>
              <a:rPr lang="en-US" sz="7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(isHolidaySeason(date)) pts *= </a:t>
            </a:r>
            <a:r>
              <a:rPr lang="en-US" sz="7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(healthScore &gt;= </a:t>
            </a:r>
            <a:r>
              <a:rPr lang="en-US" sz="7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pts *= </a:t>
            </a:r>
            <a:r>
              <a:rPr lang="en-US" sz="7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(healthScore &gt;= </a:t>
            </a:r>
            <a:r>
              <a:rPr lang="en-US" sz="7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pts *= </a:t>
            </a:r>
            <a:r>
              <a:rPr lang="en-US" sz="7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Math.floor(pts);
}
</a:t>
            </a: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Decay: -50% (Platinum: -30%)
</a:t>
            </a:r>
            <a:r>
              <a:rPr lang="en-US" sz="7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7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lossRate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tier === </a:t>
            </a:r>
            <a:r>
              <a:rPr lang="en-US" sz="75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'PLATINUM'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 </a:t>
            </a:r>
            <a:r>
              <a:rPr lang="en-US" sz="7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r>
              <a:rPr lang="en-US" sz="7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</a:t>
            </a: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E2EE Chat es Husegprogram - Kepernyo kepek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solidFill>
            <a:srgbClr val="F8F0EC"/>
          </a:solidFill>
          <a:ln w="190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Kepernyo kep: E2EE chat interface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solidFill>
            <a:srgbClr val="F8F0EC"/>
          </a:solidFill>
          <a:ln w="190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Kepernyo kep: Husegprogram / pontok oldal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 architektura</a:t>
            </a:r>
            <a:endParaRPr lang="en-US" sz="2200" dirty="0"/>
          </a:p>
        </p:txBody>
      </p:sp>
      <p:pic>
        <p:nvPicPr>
          <p:cNvPr id="5" name="Image 0" descr="docs/diagrams/output-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94944"/>
            <a:ext cx="8595360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Adatfolyam diagram</a:t>
            </a:r>
            <a:endParaRPr lang="en-US" sz="2200" dirty="0"/>
          </a:p>
        </p:txBody>
      </p:sp>
      <p:pic>
        <p:nvPicPr>
          <p:cNvPr id="5" name="Image 0" descr="docs/diagrams/output-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94944"/>
            <a:ext cx="8595360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Ketlepcsos azonositas (2FA) - folyamat</a:t>
            </a:r>
            <a:endParaRPr lang="en-US" sz="2200" dirty="0"/>
          </a:p>
        </p:txBody>
      </p:sp>
      <p:pic>
        <p:nvPicPr>
          <p:cNvPr id="5" name="Image 0" descr="docs/diagrams/output-9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94944"/>
            <a:ext cx="8595360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architektura</a:t>
            </a:r>
            <a:endParaRPr lang="en-US" sz="2200" dirty="0"/>
          </a:p>
        </p:txBody>
      </p:sp>
      <p:pic>
        <p:nvPicPr>
          <p:cNvPr id="5" name="Image 0" descr="docs/diagrams/output-13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94944"/>
            <a:ext cx="8595360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kulcsszerkezet</a:t>
            </a:r>
            <a:endParaRPr lang="en-US" sz="2200" dirty="0"/>
          </a:p>
        </p:txBody>
      </p:sp>
      <p:pic>
        <p:nvPicPr>
          <p:cNvPr id="5" name="Image 0" descr="docs/diagrams/snaptray_redis_key_ma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694944"/>
            <a:ext cx="8595360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Repozitorium attekintes - onefetch #1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iskolaprojekt-1 - kodbazis statisztikak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52144"/>
            <a:ext cx="8412480" cy="3749040"/>
          </a:xfrm>
          <a:prstGeom prst="rect">
            <a:avLst/>
          </a:prstGeom>
          <a:solidFill>
            <a:srgbClr val="F8F0EC"/>
          </a:solidFill>
          <a:ln w="190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365760" y="1152144"/>
            <a:ext cx="8412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onefetch #1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Futtasd: onefetch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Nyelvek aranya, commit-szam,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kozremuk datok, repo merete.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Repozitorium attekintes - onefetch #2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iskolaprojekt-1 - reszletes statisztikak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52144"/>
            <a:ext cx="8412480" cy="3749040"/>
          </a:xfrm>
          <a:prstGeom prst="rect">
            <a:avLst/>
          </a:prstGeom>
          <a:solidFill>
            <a:srgbClr val="F8F0EC"/>
          </a:solidFill>
          <a:ln w="190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365760" y="1152144"/>
            <a:ext cx="8412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onefetch #2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Futtasd: onefetch --no-color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Fajlok szama, kodsorok,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atlagos commit merete.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Teljesitmenyteszt - autocannon (35 000 ker/s)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Tesztkörnyezet es eredmenyek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35 000 keres/mp - nehez DB es Redis útvonalon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autocannon -c 100 -d 30 http://localhost:3000/...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parhuzamos kapcsolat, 30 mp-es teszt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Atlagos keses: &lt;3ms (Redis cache aktivan)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keses: &lt;10ms terhelt kornyezetben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Gzip tomörités: compression() MW aktiv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keepAliveTimeout: 65000ms (AWS ALB folott)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3379361"/>
            <a:ext cx="4297680" cy="148002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182880" y="3379361"/>
            <a:ext cx="4297680" cy="296004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274320" y="3388504"/>
            <a:ext cx="1371600" cy="26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274320" y="3617105"/>
            <a:ext cx="4114800" cy="1049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autocannon teszt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autocannon -c 100 -d 30 \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http://localhost:3000/api/menu-items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       Avg      StdDev  Max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    0.28 ms  0.5 ms  12 ms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Req/Sec   35 000   2 100   38 500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Bytes/s   12.4 MB  1.1 MB  14.8 MB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749808"/>
            <a:ext cx="4069080" cy="4187952"/>
          </a:xfrm>
          <a:prstGeom prst="rect">
            <a:avLst/>
          </a:prstGeom>
          <a:solidFill>
            <a:srgbClr val="F8F0EC"/>
          </a:solidFill>
          <a:ln w="190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4754880" y="749808"/>
            <a:ext cx="406908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autocannon eredmeny kepernyo kep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35 000 req/s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illesszd be a kepernyo kepet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27432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17627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Koszonjuk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Szivesen valaszolunk kerdesekre!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4782312"/>
            <a:ext cx="9144000" cy="3611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Koszonjuk a figyelmet!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0040" y="21031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SnapTray - Iskolai Menza Rendelorendszer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0" y="2834640"/>
            <a:ext cx="5486400" cy="1572768"/>
          </a:xfrm>
          <a:prstGeom prst="rect">
            <a:avLst/>
          </a:prstGeom>
          <a:solidFill>
            <a:srgbClr val="2D2D44"/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1828800" y="2834640"/>
            <a:ext cx="54864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Kugli Balazs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Hargitai Tamas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 Aliz Andrea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4782312"/>
            <a:ext cx="841248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kerdes?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2829</Words>
  <Application>Microsoft Office PowerPoint</Application>
  <PresentationFormat>Diavetítés a képernyőre (16:9 oldalarány)</PresentationFormat>
  <Paragraphs>524</Paragraphs>
  <Slides>37</Slides>
  <Notes>37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37</vt:i4>
      </vt:variant>
    </vt:vector>
  </HeadingPairs>
  <TitlesOfParts>
    <vt:vector size="41" baseType="lpstr">
      <vt:lpstr>Arial</vt:lpstr>
      <vt:lpstr>Calibri</vt:lpstr>
      <vt:lpstr>Courier New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SnapTray</dc:title>
  <dc:subject>PptxGenJS Presentation</dc:subject>
  <dc:creator>SnapTray Team</dc:creator>
  <cp:lastModifiedBy>Bivorz K</cp:lastModifiedBy>
  <cp:revision>6</cp:revision>
  <dcterms:created xsi:type="dcterms:W3CDTF">2026-04-15T19:38:39Z</dcterms:created>
  <dcterms:modified xsi:type="dcterms:W3CDTF">2026-04-15T22:12:55Z</dcterms:modified>
</cp:coreProperties>
</file>